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Agrandir" panose="020B0604020202020204" charset="0"/>
      <p:regular r:id="rId31"/>
    </p:embeddedFont>
    <p:embeddedFont>
      <p:font typeface="Agrandir Bold" panose="020B0604020202020204" charset="0"/>
      <p:regular r:id="rId32"/>
    </p:embeddedFont>
    <p:embeddedFont>
      <p:font typeface="DM Sans" panose="020F0502020204030204" pitchFamily="2" charset="0"/>
      <p:regular r:id="rId33"/>
    </p:embeddedFont>
    <p:embeddedFont>
      <p:font typeface="DM Sans Bold" panose="020B0604020202020204" charset="0"/>
      <p:regular r:id="rId34"/>
    </p:embeddedFont>
    <p:embeddedFont>
      <p:font typeface="Montserrat Bold" panose="020B0604020202020204" charset="0"/>
      <p:regular r:id="rId35"/>
    </p:embeddedFont>
    <p:embeddedFont>
      <p:font typeface="Poppins" panose="00000500000000000000" charset="0"/>
      <p:regular r:id="rId36"/>
    </p:embeddedFont>
    <p:embeddedFont>
      <p:font typeface="Poppins Bold" panose="020B0604020202020204" charset="0"/>
      <p:regular r:id="rId37"/>
    </p:embeddedFont>
    <p:embeddedFont>
      <p:font typeface="Proxima Nova" panose="020B0604020202020204" charset="0"/>
      <p:regular r:id="rId38"/>
    </p:embeddedFont>
    <p:embeddedFont>
      <p:font typeface="Proxima Nova Bold" panose="020B0604020202020204" charset="0"/>
      <p:regular r:id="rId39"/>
    </p:embeddedFont>
    <p:embeddedFont>
      <p:font typeface="TT Fors" panose="020B0604020202020204" charset="0"/>
      <p:regular r:id="rId40"/>
    </p:embeddedFont>
    <p:embeddedFont>
      <p:font typeface="TT Fors Bold" panose="020B0604020202020204" charset="0"/>
      <p:regular r:id="rId41"/>
    </p:embeddedFont>
    <p:embeddedFont>
      <p:font typeface="TT Hoves" panose="020B0604020202020204" charset="0"/>
      <p:regular r:id="rId42"/>
    </p:embeddedFont>
    <p:embeddedFont>
      <p:font typeface="TT Hoves Bold" panose="020B0604020202020204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9.jpe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hyperlink" Target="https://www.cdsecurity.tn/shop/adaptateur-alimentation-dc-12v-12?srsltid=AfmBOor5QlVbwFe4qavTOfcXm08sbttei91q3gN-s8kFVVi4HpADuByn" TargetMode="Externa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sv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svg"/><Relationship Id="rId4" Type="http://schemas.openxmlformats.org/officeDocument/2006/relationships/image" Target="../media/image6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alog.com/media/en/technical-documentation/data-sheets/ds1307.pdf" TargetMode="External"/><Relationship Id="rId3" Type="http://schemas.openxmlformats.org/officeDocument/2006/relationships/image" Target="../media/image78.png"/><Relationship Id="rId7" Type="http://schemas.openxmlformats.org/officeDocument/2006/relationships/hyperlink" Target="https://c1555f5ec9.clvaw-cdnwnd.com/34662fcf1f1e607c561442431023ac8e/200013049-b3a11b3a13/JGB37-520%20Datasheet.pdf" TargetMode="Externa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i.com/lit/ds/symlink/lm2596.pdf" TargetMode="External"/><Relationship Id="rId5" Type="http://schemas.openxmlformats.org/officeDocument/2006/relationships/hyperlink" Target="https://unframework.github.io/dtmf-detect/" TargetMode="External"/><Relationship Id="rId4" Type="http://schemas.openxmlformats.org/officeDocument/2006/relationships/image" Target="../media/image79.png"/><Relationship Id="rId9" Type="http://schemas.openxmlformats.org/officeDocument/2006/relationships/hyperlink" Target="https://www.mathworks.com/help/matlab/getting-started-with-matlab.html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65302">
            <a:off x="6114269" y="4622050"/>
            <a:ext cx="15105652" cy="3385951"/>
          </a:xfrm>
          <a:custGeom>
            <a:avLst/>
            <a:gdLst/>
            <a:ahLst/>
            <a:cxnLst/>
            <a:rect l="l" t="t" r="r" b="b"/>
            <a:pathLst>
              <a:path w="15105652" h="3385951">
                <a:moveTo>
                  <a:pt x="0" y="0"/>
                </a:moveTo>
                <a:lnTo>
                  <a:pt x="15105653" y="0"/>
                </a:lnTo>
                <a:lnTo>
                  <a:pt x="15105653" y="3385951"/>
                </a:lnTo>
                <a:lnTo>
                  <a:pt x="0" y="3385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-22894" r="-22894"/>
            </a:stretch>
          </a:blipFill>
        </p:spPr>
      </p:sp>
      <p:grpSp>
        <p:nvGrpSpPr>
          <p:cNvPr id="3" name="Group 3"/>
          <p:cNvGrpSpPr/>
          <p:nvPr/>
        </p:nvGrpSpPr>
        <p:grpSpPr>
          <a:xfrm rot="-9994257">
            <a:off x="14693702" y="-207411"/>
            <a:ext cx="5849091" cy="13122164"/>
            <a:chOff x="0" y="0"/>
            <a:chExt cx="1655226" cy="37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55226" cy="3713421"/>
            </a:xfrm>
            <a:custGeom>
              <a:avLst/>
              <a:gdLst/>
              <a:ahLst/>
              <a:cxnLst/>
              <a:rect l="l" t="t" r="r" b="b"/>
              <a:pathLst>
                <a:path w="1655226" h="3713421">
                  <a:moveTo>
                    <a:pt x="0" y="0"/>
                  </a:moveTo>
                  <a:lnTo>
                    <a:pt x="1655226" y="0"/>
                  </a:lnTo>
                  <a:lnTo>
                    <a:pt x="165522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655226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738003" y="6124325"/>
            <a:ext cx="10584287" cy="4265517"/>
          </a:xfrm>
          <a:custGeom>
            <a:avLst/>
            <a:gdLst/>
            <a:ahLst/>
            <a:cxnLst/>
            <a:rect l="l" t="t" r="r" b="b"/>
            <a:pathLst>
              <a:path w="10584287" h="4265517">
                <a:moveTo>
                  <a:pt x="0" y="0"/>
                </a:moveTo>
                <a:lnTo>
                  <a:pt x="10584287" y="0"/>
                </a:lnTo>
                <a:lnTo>
                  <a:pt x="10584287" y="4265516"/>
                </a:lnTo>
                <a:lnTo>
                  <a:pt x="0" y="4265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532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588343" y="5869476"/>
            <a:ext cx="3209177" cy="320917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  <a:ln w="123825" cap="sq">
              <a:solidFill>
                <a:srgbClr val="E6E6E6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2271824" y="3298314"/>
            <a:ext cx="13744351" cy="318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7"/>
              </a:lnSpc>
            </a:pPr>
            <a:r>
              <a:rPr lang="en-US" sz="4923" b="1" spc="231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CONCEPTION ET CRÉATION D'UN SYSTÈME DE NETTOYAGE AUTOMATIQUE DES PANNEAUX PHOTOVOLTAÏQUES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18561" y="8152308"/>
            <a:ext cx="4405213" cy="132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6"/>
              </a:lnSpc>
            </a:pPr>
            <a:r>
              <a:rPr lang="en-US" sz="2523" b="1" spc="118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ELABORÉ PAR:</a:t>
            </a:r>
          </a:p>
          <a:p>
            <a:pPr algn="ctr">
              <a:lnSpc>
                <a:spcPts val="3306"/>
              </a:lnSpc>
            </a:pPr>
            <a:r>
              <a:rPr lang="en-US" sz="2523" b="1" spc="118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ZAINAB FRITIS</a:t>
            </a:r>
          </a:p>
          <a:p>
            <a:pPr algn="ctr">
              <a:lnSpc>
                <a:spcPts val="3306"/>
              </a:lnSpc>
            </a:pPr>
            <a:r>
              <a:rPr lang="en-US" sz="2523" b="1" spc="118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ZAINEB TRIGUI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21599" y="6994634"/>
            <a:ext cx="5926605" cy="99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779" b="1" spc="130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ENCADRÉ PAR:</a:t>
            </a:r>
          </a:p>
          <a:p>
            <a:pPr algn="ctr">
              <a:lnSpc>
                <a:spcPts val="2362"/>
              </a:lnSpc>
            </a:pPr>
            <a:r>
              <a:rPr lang="en-US" sz="2779" b="1" spc="130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</a:t>
            </a:r>
          </a:p>
          <a:p>
            <a:pPr algn="ctr">
              <a:lnSpc>
                <a:spcPts val="2362"/>
              </a:lnSpc>
            </a:pPr>
            <a:r>
              <a:rPr lang="en-US" sz="2779" b="1" spc="130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MR.NIDHAL BEN AMOR</a:t>
            </a:r>
          </a:p>
        </p:txBody>
      </p:sp>
      <p:grpSp>
        <p:nvGrpSpPr>
          <p:cNvPr id="12" name="Group 12"/>
          <p:cNvGrpSpPr/>
          <p:nvPr/>
        </p:nvGrpSpPr>
        <p:grpSpPr>
          <a:xfrm rot="-10800000">
            <a:off x="-6902959" y="9765059"/>
            <a:ext cx="18288000" cy="624783"/>
            <a:chOff x="0" y="0"/>
            <a:chExt cx="4816593" cy="164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120556" y="7994493"/>
            <a:ext cx="3209177" cy="320917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86029" r="-86029"/>
              </a:stretch>
            </a:blipFill>
            <a:ln w="123825" cap="sq">
              <a:solidFill>
                <a:srgbClr val="E6E6E6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262240" y="9824085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 |  PROJET FIN D’ANNÉE | 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37909" y="490624"/>
            <a:ext cx="3007590" cy="1353309"/>
          </a:xfrm>
          <a:custGeom>
            <a:avLst/>
            <a:gdLst/>
            <a:ahLst/>
            <a:cxnLst/>
            <a:rect l="l" t="t" r="r" b="b"/>
            <a:pathLst>
              <a:path w="3007590" h="1353309">
                <a:moveTo>
                  <a:pt x="0" y="0"/>
                </a:moveTo>
                <a:lnTo>
                  <a:pt x="3007590" y="0"/>
                </a:lnTo>
                <a:lnTo>
                  <a:pt x="3007590" y="1353309"/>
                </a:lnTo>
                <a:lnTo>
                  <a:pt x="0" y="1353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917949" y="56852"/>
            <a:ext cx="452101" cy="713331"/>
          </a:xfrm>
          <a:custGeom>
            <a:avLst/>
            <a:gdLst/>
            <a:ahLst/>
            <a:cxnLst/>
            <a:rect l="l" t="t" r="r" b="b"/>
            <a:pathLst>
              <a:path w="452101" h="713331">
                <a:moveTo>
                  <a:pt x="0" y="0"/>
                </a:moveTo>
                <a:lnTo>
                  <a:pt x="452102" y="0"/>
                </a:lnTo>
                <a:lnTo>
                  <a:pt x="452102" y="713330"/>
                </a:lnTo>
                <a:lnTo>
                  <a:pt x="0" y="713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192931" y="413517"/>
            <a:ext cx="1799771" cy="1878676"/>
          </a:xfrm>
          <a:custGeom>
            <a:avLst/>
            <a:gdLst/>
            <a:ahLst/>
            <a:cxnLst/>
            <a:rect l="l" t="t" r="r" b="b"/>
            <a:pathLst>
              <a:path w="1799771" h="1878676">
                <a:moveTo>
                  <a:pt x="0" y="0"/>
                </a:moveTo>
                <a:lnTo>
                  <a:pt x="1799772" y="0"/>
                </a:lnTo>
                <a:lnTo>
                  <a:pt x="1799772" y="1878676"/>
                </a:lnTo>
                <a:lnTo>
                  <a:pt x="0" y="18786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571694" y="732082"/>
            <a:ext cx="5144613" cy="156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Rébuplique Tunisienne</a:t>
            </a:r>
          </a:p>
          <a:p>
            <a:pPr algn="ctr">
              <a:lnSpc>
                <a:spcPts val="2095"/>
              </a:lnSpc>
            </a:pPr>
            <a:r>
              <a:rPr lang="en-US" sz="1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Ministère de l’Enseignement Supérieur</a:t>
            </a:r>
          </a:p>
          <a:p>
            <a:pPr algn="ctr">
              <a:lnSpc>
                <a:spcPts val="2095"/>
              </a:lnSpc>
            </a:pPr>
            <a:r>
              <a:rPr lang="en-US" sz="1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de la Recherche Scientifique</a:t>
            </a:r>
          </a:p>
          <a:p>
            <a:pPr algn="ctr">
              <a:lnSpc>
                <a:spcPts val="2095"/>
              </a:lnSpc>
            </a:pPr>
            <a:r>
              <a:rPr lang="en-US" sz="1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*** ***</a:t>
            </a:r>
          </a:p>
          <a:p>
            <a:pPr algn="ctr">
              <a:lnSpc>
                <a:spcPts val="2095"/>
              </a:lnSpc>
            </a:pPr>
            <a:r>
              <a:rPr lang="en-US" sz="1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Université de Sfax</a:t>
            </a:r>
          </a:p>
          <a:p>
            <a:pPr algn="ctr">
              <a:lnSpc>
                <a:spcPts val="2095"/>
              </a:lnSpc>
            </a:pPr>
            <a:r>
              <a:rPr lang="en-US" sz="14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Ecole Nationale d’Electronique et des Télécommunications de Sfax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2240" y="1854506"/>
            <a:ext cx="5158928" cy="51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5"/>
              </a:lnSpc>
            </a:pPr>
            <a:r>
              <a:rPr lang="en-US" sz="148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2ème année Génie des Systèmes Electroniques de</a:t>
            </a:r>
          </a:p>
          <a:p>
            <a:pPr algn="ctr">
              <a:lnSpc>
                <a:spcPts val="2075"/>
              </a:lnSpc>
            </a:pPr>
            <a:r>
              <a:rPr lang="en-US" sz="148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2855" y="6861080"/>
            <a:ext cx="6710188" cy="1095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7"/>
              </a:lnSpc>
            </a:pPr>
            <a:r>
              <a:rPr lang="en-US" sz="2723" b="1" spc="128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EXAMINÉ PAR :</a:t>
            </a:r>
          </a:p>
          <a:p>
            <a:pPr algn="ctr">
              <a:lnSpc>
                <a:spcPts val="4167"/>
              </a:lnSpc>
            </a:pPr>
            <a:r>
              <a:rPr lang="en-US" sz="2723" b="1" spc="128">
                <a:solidFill>
                  <a:srgbClr val="202124"/>
                </a:solidFill>
                <a:latin typeface="Agrandir Bold"/>
                <a:ea typeface="Agrandir Bold"/>
                <a:cs typeface="Agrandir Bold"/>
                <a:sym typeface="Agrandir Bold"/>
              </a:rPr>
              <a:t>MME. NEDIA CHAKER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95076" y="-459458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4"/>
                </a:lnTo>
                <a:lnTo>
                  <a:pt x="0" y="9189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35943" y="-86095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4" y="0"/>
                </a:lnTo>
                <a:lnTo>
                  <a:pt x="9189164" y="9189164"/>
                </a:lnTo>
                <a:lnTo>
                  <a:pt x="0" y="9189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7754748" y="4385032"/>
            <a:ext cx="2778504" cy="0"/>
          </a:xfrm>
          <a:prstGeom prst="line">
            <a:avLst/>
          </a:prstGeom>
          <a:ln w="38100" cap="flat">
            <a:solidFill>
              <a:srgbClr val="2270A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99380" y="1954061"/>
            <a:ext cx="3078497" cy="2035656"/>
          </a:xfrm>
          <a:custGeom>
            <a:avLst/>
            <a:gdLst/>
            <a:ahLst/>
            <a:cxnLst/>
            <a:rect l="l" t="t" r="r" b="b"/>
            <a:pathLst>
              <a:path w="3078497" h="2035656">
                <a:moveTo>
                  <a:pt x="0" y="0"/>
                </a:moveTo>
                <a:lnTo>
                  <a:pt x="3078497" y="0"/>
                </a:lnTo>
                <a:lnTo>
                  <a:pt x="3078497" y="2035656"/>
                </a:lnTo>
                <a:lnTo>
                  <a:pt x="0" y="2035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3542983" y="1845410"/>
            <a:ext cx="2997931" cy="2144307"/>
          </a:xfrm>
          <a:custGeom>
            <a:avLst/>
            <a:gdLst/>
            <a:ahLst/>
            <a:cxnLst/>
            <a:rect l="l" t="t" r="r" b="b"/>
            <a:pathLst>
              <a:path w="2997931" h="2144307">
                <a:moveTo>
                  <a:pt x="2997931" y="0"/>
                </a:moveTo>
                <a:lnTo>
                  <a:pt x="0" y="0"/>
                </a:lnTo>
                <a:lnTo>
                  <a:pt x="0" y="2144307"/>
                </a:lnTo>
                <a:lnTo>
                  <a:pt x="2997931" y="2144307"/>
                </a:lnTo>
                <a:lnTo>
                  <a:pt x="2997931" y="0"/>
                </a:lnTo>
                <a:close/>
              </a:path>
            </a:pathLst>
          </a:custGeom>
          <a:blipFill>
            <a:blip r:embed="rId3"/>
            <a:stretch>
              <a:fillRect l="-4084" r="-408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92717" y="1325291"/>
            <a:ext cx="7502566" cy="3188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9"/>
              </a:lnSpc>
            </a:pPr>
            <a:r>
              <a:rPr lang="en-US" sz="7371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PLAN DE LA PRÉSENTATION</a:t>
            </a:r>
          </a:p>
          <a:p>
            <a:pPr algn="ctr">
              <a:lnSpc>
                <a:spcPts val="7739"/>
              </a:lnSpc>
            </a:pPr>
            <a:endParaRPr lang="en-US" sz="7371">
              <a:solidFill>
                <a:srgbClr val="202124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80657" y="6333326"/>
            <a:ext cx="4406397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DU SYSTÈME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20212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99380" y="5603711"/>
            <a:ext cx="59258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80657" y="7062941"/>
            <a:ext cx="3932267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CONCEPTION MATÉRIELLE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20212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08905" y="6333326"/>
            <a:ext cx="59258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48939" y="5652547"/>
            <a:ext cx="3932267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CONCEPTION LOGICIELLE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20212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99380" y="7062941"/>
            <a:ext cx="59258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67661" y="5652547"/>
            <a:ext cx="59258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31775" y="6363806"/>
            <a:ext cx="3706586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TESTS &amp; RÉSULTATS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20212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67661" y="6363806"/>
            <a:ext cx="59258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03200" y="7093421"/>
            <a:ext cx="494211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PERSPECTIVES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7661" y="7093421"/>
            <a:ext cx="59258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80657" y="5603711"/>
            <a:ext cx="4928689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&amp; PROBLÉMATIQUE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20212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58914" y="7548240"/>
            <a:ext cx="8827214" cy="8827214"/>
          </a:xfrm>
          <a:custGeom>
            <a:avLst/>
            <a:gdLst/>
            <a:ahLst/>
            <a:cxnLst/>
            <a:rect l="l" t="t" r="r" b="b"/>
            <a:pathLst>
              <a:path w="8827214" h="8827214">
                <a:moveTo>
                  <a:pt x="0" y="0"/>
                </a:moveTo>
                <a:lnTo>
                  <a:pt x="8827215" y="0"/>
                </a:lnTo>
                <a:lnTo>
                  <a:pt x="8827215" y="8827214"/>
                </a:lnTo>
                <a:lnTo>
                  <a:pt x="0" y="8827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41952" y="3262309"/>
            <a:ext cx="4038122" cy="3333431"/>
            <a:chOff x="0" y="0"/>
            <a:chExt cx="1501766" cy="12396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1766" cy="1239694"/>
            </a:xfrm>
            <a:custGeom>
              <a:avLst/>
              <a:gdLst/>
              <a:ahLst/>
              <a:cxnLst/>
              <a:rect l="l" t="t" r="r" b="b"/>
              <a:pathLst>
                <a:path w="1501766" h="1239694">
                  <a:moveTo>
                    <a:pt x="44096" y="0"/>
                  </a:moveTo>
                  <a:lnTo>
                    <a:pt x="1457670" y="0"/>
                  </a:lnTo>
                  <a:cubicBezTo>
                    <a:pt x="1469365" y="0"/>
                    <a:pt x="1480581" y="4646"/>
                    <a:pt x="1488851" y="12915"/>
                  </a:cubicBezTo>
                  <a:cubicBezTo>
                    <a:pt x="1497120" y="21185"/>
                    <a:pt x="1501766" y="32401"/>
                    <a:pt x="1501766" y="44096"/>
                  </a:cubicBezTo>
                  <a:lnTo>
                    <a:pt x="1501766" y="1195598"/>
                  </a:lnTo>
                  <a:cubicBezTo>
                    <a:pt x="1501766" y="1219951"/>
                    <a:pt x="1482024" y="1239694"/>
                    <a:pt x="1457670" y="1239694"/>
                  </a:cubicBezTo>
                  <a:lnTo>
                    <a:pt x="44096" y="1239694"/>
                  </a:lnTo>
                  <a:cubicBezTo>
                    <a:pt x="19742" y="1239694"/>
                    <a:pt x="0" y="1219951"/>
                    <a:pt x="0" y="1195598"/>
                  </a:cubicBezTo>
                  <a:lnTo>
                    <a:pt x="0" y="44096"/>
                  </a:lnTo>
                  <a:cubicBezTo>
                    <a:pt x="0" y="19742"/>
                    <a:pt x="19742" y="0"/>
                    <a:pt x="44096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501766" cy="13063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1310" y="7523781"/>
            <a:ext cx="16880759" cy="1791669"/>
            <a:chOff x="0" y="0"/>
            <a:chExt cx="5013588" cy="532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13588" cy="532126"/>
            </a:xfrm>
            <a:custGeom>
              <a:avLst/>
              <a:gdLst/>
              <a:ahLst/>
              <a:cxnLst/>
              <a:rect l="l" t="t" r="r" b="b"/>
              <a:pathLst>
                <a:path w="5013588" h="532126">
                  <a:moveTo>
                    <a:pt x="10548" y="0"/>
                  </a:moveTo>
                  <a:lnTo>
                    <a:pt x="5003040" y="0"/>
                  </a:lnTo>
                  <a:cubicBezTo>
                    <a:pt x="5005837" y="0"/>
                    <a:pt x="5008520" y="1111"/>
                    <a:pt x="5010498" y="3090"/>
                  </a:cubicBezTo>
                  <a:cubicBezTo>
                    <a:pt x="5012477" y="5068"/>
                    <a:pt x="5013588" y="7751"/>
                    <a:pt x="5013588" y="10548"/>
                  </a:cubicBezTo>
                  <a:lnTo>
                    <a:pt x="5013588" y="521577"/>
                  </a:lnTo>
                  <a:cubicBezTo>
                    <a:pt x="5013588" y="524375"/>
                    <a:pt x="5012477" y="527058"/>
                    <a:pt x="5010498" y="529036"/>
                  </a:cubicBezTo>
                  <a:cubicBezTo>
                    <a:pt x="5008520" y="531014"/>
                    <a:pt x="5005837" y="532126"/>
                    <a:pt x="5003040" y="532126"/>
                  </a:cubicBezTo>
                  <a:lnTo>
                    <a:pt x="10548" y="532126"/>
                  </a:lnTo>
                  <a:cubicBezTo>
                    <a:pt x="4723" y="532126"/>
                    <a:pt x="0" y="527403"/>
                    <a:pt x="0" y="521577"/>
                  </a:cubicBezTo>
                  <a:lnTo>
                    <a:pt x="0" y="10548"/>
                  </a:lnTo>
                  <a:cubicBezTo>
                    <a:pt x="0" y="7751"/>
                    <a:pt x="1111" y="5068"/>
                    <a:pt x="3090" y="3090"/>
                  </a:cubicBezTo>
                  <a:cubicBezTo>
                    <a:pt x="5068" y="1111"/>
                    <a:pt x="7751" y="0"/>
                    <a:pt x="1054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013588" cy="59880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7177" y="3434258"/>
            <a:ext cx="1326684" cy="132668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270A8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3406" y="3262309"/>
            <a:ext cx="4038122" cy="3333431"/>
            <a:chOff x="0" y="0"/>
            <a:chExt cx="1501766" cy="12396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01766" cy="1239694"/>
            </a:xfrm>
            <a:custGeom>
              <a:avLst/>
              <a:gdLst/>
              <a:ahLst/>
              <a:cxnLst/>
              <a:rect l="l" t="t" r="r" b="b"/>
              <a:pathLst>
                <a:path w="1501766" h="1239694">
                  <a:moveTo>
                    <a:pt x="44096" y="0"/>
                  </a:moveTo>
                  <a:lnTo>
                    <a:pt x="1457670" y="0"/>
                  </a:lnTo>
                  <a:cubicBezTo>
                    <a:pt x="1469365" y="0"/>
                    <a:pt x="1480581" y="4646"/>
                    <a:pt x="1488851" y="12915"/>
                  </a:cubicBezTo>
                  <a:cubicBezTo>
                    <a:pt x="1497120" y="21185"/>
                    <a:pt x="1501766" y="32401"/>
                    <a:pt x="1501766" y="44096"/>
                  </a:cubicBezTo>
                  <a:lnTo>
                    <a:pt x="1501766" y="1195598"/>
                  </a:lnTo>
                  <a:cubicBezTo>
                    <a:pt x="1501766" y="1219951"/>
                    <a:pt x="1482024" y="1239694"/>
                    <a:pt x="1457670" y="1239694"/>
                  </a:cubicBezTo>
                  <a:lnTo>
                    <a:pt x="44096" y="1239694"/>
                  </a:lnTo>
                  <a:cubicBezTo>
                    <a:pt x="19742" y="1239694"/>
                    <a:pt x="0" y="1219951"/>
                    <a:pt x="0" y="1195598"/>
                  </a:cubicBezTo>
                  <a:lnTo>
                    <a:pt x="0" y="44096"/>
                  </a:lnTo>
                  <a:cubicBezTo>
                    <a:pt x="0" y="19742"/>
                    <a:pt x="19742" y="0"/>
                    <a:pt x="44096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501766" cy="13063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89626" y="3434258"/>
            <a:ext cx="1295688" cy="129568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270A8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48716" y="3871680"/>
            <a:ext cx="1030649" cy="820232"/>
          </a:xfrm>
          <a:custGeom>
            <a:avLst/>
            <a:gdLst/>
            <a:ahLst/>
            <a:cxnLst/>
            <a:rect l="l" t="t" r="r" b="b"/>
            <a:pathLst>
              <a:path w="1030649" h="820232">
                <a:moveTo>
                  <a:pt x="0" y="0"/>
                </a:moveTo>
                <a:lnTo>
                  <a:pt x="1030649" y="0"/>
                </a:lnTo>
                <a:lnTo>
                  <a:pt x="1030649" y="820232"/>
                </a:lnTo>
                <a:lnTo>
                  <a:pt x="0" y="820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9" r="-1519" b="-29471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64040" y="3475139"/>
            <a:ext cx="647956" cy="547066"/>
          </a:xfrm>
          <a:custGeom>
            <a:avLst/>
            <a:gdLst/>
            <a:ahLst/>
            <a:cxnLst/>
            <a:rect l="l" t="t" r="r" b="b"/>
            <a:pathLst>
              <a:path w="647956" h="547066">
                <a:moveTo>
                  <a:pt x="0" y="0"/>
                </a:moveTo>
                <a:lnTo>
                  <a:pt x="647956" y="0"/>
                </a:lnTo>
                <a:lnTo>
                  <a:pt x="647956" y="547066"/>
                </a:lnTo>
                <a:lnTo>
                  <a:pt x="0" y="547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31" r="-6631" b="-34151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968201" y="3723418"/>
            <a:ext cx="755655" cy="755655"/>
          </a:xfrm>
          <a:custGeom>
            <a:avLst/>
            <a:gdLst/>
            <a:ahLst/>
            <a:cxnLst/>
            <a:rect l="l" t="t" r="r" b="b"/>
            <a:pathLst>
              <a:path w="755655" h="755655">
                <a:moveTo>
                  <a:pt x="0" y="0"/>
                </a:moveTo>
                <a:lnTo>
                  <a:pt x="755655" y="0"/>
                </a:lnTo>
                <a:lnTo>
                  <a:pt x="755655" y="755656"/>
                </a:lnTo>
                <a:lnTo>
                  <a:pt x="0" y="75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1484846" y="1828983"/>
            <a:ext cx="6276847" cy="4766757"/>
            <a:chOff x="0" y="0"/>
            <a:chExt cx="1632424" cy="12396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32424" cy="1239694"/>
            </a:xfrm>
            <a:custGeom>
              <a:avLst/>
              <a:gdLst/>
              <a:ahLst/>
              <a:cxnLst/>
              <a:rect l="l" t="t" r="r" b="b"/>
              <a:pathLst>
                <a:path w="1632424" h="1239694">
                  <a:moveTo>
                    <a:pt x="28368" y="0"/>
                  </a:moveTo>
                  <a:lnTo>
                    <a:pt x="1604055" y="0"/>
                  </a:lnTo>
                  <a:cubicBezTo>
                    <a:pt x="1619723" y="0"/>
                    <a:pt x="1632424" y="12701"/>
                    <a:pt x="1632424" y="28368"/>
                  </a:cubicBezTo>
                  <a:lnTo>
                    <a:pt x="1632424" y="1211325"/>
                  </a:lnTo>
                  <a:cubicBezTo>
                    <a:pt x="1632424" y="1218849"/>
                    <a:pt x="1629435" y="1226065"/>
                    <a:pt x="1624115" y="1231385"/>
                  </a:cubicBezTo>
                  <a:cubicBezTo>
                    <a:pt x="1618795" y="1236705"/>
                    <a:pt x="1611579" y="1239694"/>
                    <a:pt x="1604055" y="1239694"/>
                  </a:cubicBezTo>
                  <a:lnTo>
                    <a:pt x="28368" y="1239694"/>
                  </a:lnTo>
                  <a:cubicBezTo>
                    <a:pt x="12701" y="1239694"/>
                    <a:pt x="0" y="1226993"/>
                    <a:pt x="0" y="1211325"/>
                  </a:cubicBezTo>
                  <a:lnTo>
                    <a:pt x="0" y="28368"/>
                  </a:lnTo>
                  <a:cubicBezTo>
                    <a:pt x="0" y="12701"/>
                    <a:pt x="12701" y="0"/>
                    <a:pt x="2836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632424" cy="13063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2360421" y="2242148"/>
            <a:ext cx="972253" cy="1044030"/>
          </a:xfrm>
          <a:custGeom>
            <a:avLst/>
            <a:gdLst/>
            <a:ahLst/>
            <a:cxnLst/>
            <a:rect l="l" t="t" r="r" b="b"/>
            <a:pathLst>
              <a:path w="972253" h="1044030">
                <a:moveTo>
                  <a:pt x="0" y="0"/>
                </a:moveTo>
                <a:lnTo>
                  <a:pt x="972253" y="0"/>
                </a:lnTo>
                <a:lnTo>
                  <a:pt x="972253" y="1044030"/>
                </a:lnTo>
                <a:lnTo>
                  <a:pt x="0" y="1044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2027856" y="1945471"/>
            <a:ext cx="1637383" cy="163738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270A8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924625" y="8095281"/>
            <a:ext cx="15565733" cy="568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Notre solution : Système automatique ESP32 + WiFi + Capteurs de sécurité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98311" y="7661482"/>
            <a:ext cx="1428319" cy="142831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270A8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878713" y="7814940"/>
            <a:ext cx="1036388" cy="1140454"/>
          </a:xfrm>
          <a:custGeom>
            <a:avLst/>
            <a:gdLst/>
            <a:ahLst/>
            <a:cxnLst/>
            <a:rect l="l" t="t" r="r" b="b"/>
            <a:pathLst>
              <a:path w="1036388" h="1140454">
                <a:moveTo>
                  <a:pt x="0" y="0"/>
                </a:moveTo>
                <a:lnTo>
                  <a:pt x="1036387" y="0"/>
                </a:lnTo>
                <a:lnTo>
                  <a:pt x="1036387" y="1140454"/>
                </a:lnTo>
                <a:lnTo>
                  <a:pt x="0" y="1140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81946" y="1100093"/>
            <a:ext cx="7767456" cy="94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5954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 &amp; PROBLÉMATIQUE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1310" y="268451"/>
            <a:ext cx="5084739" cy="85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506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Contexte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6862" y="431040"/>
            <a:ext cx="3034684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Sustainability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1933" y="4892930"/>
            <a:ext cx="4178160" cy="167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ensoleillement/an</a:t>
            </a:r>
          </a:p>
          <a:p>
            <a:pPr algn="ctr">
              <a:lnSpc>
                <a:spcPts val="4360"/>
              </a:lnSpc>
            </a:pPr>
            <a:r>
              <a:rPr lang="en-US" sz="31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en Tunisie</a:t>
            </a:r>
          </a:p>
          <a:p>
            <a:pPr algn="ctr">
              <a:lnSpc>
                <a:spcPts val="4360"/>
              </a:lnSpc>
            </a:pPr>
            <a:endParaRPr lang="en-US" sz="3114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443861" y="3734560"/>
            <a:ext cx="2191190" cy="72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0"/>
              </a:lnSpc>
            </a:pPr>
            <a:r>
              <a:rPr lang="en-US" sz="3992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2800h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413386" y="4892930"/>
            <a:ext cx="4178160" cy="167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perte rendement</a:t>
            </a:r>
          </a:p>
          <a:p>
            <a:pPr algn="ctr">
              <a:lnSpc>
                <a:spcPts val="4360"/>
              </a:lnSpc>
            </a:pPr>
            <a:r>
              <a:rPr lang="en-US" sz="31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poussière</a:t>
            </a:r>
          </a:p>
          <a:p>
            <a:pPr algn="ctr">
              <a:lnSpc>
                <a:spcPts val="4360"/>
              </a:lnSpc>
            </a:pPr>
            <a:endParaRPr lang="en-US" sz="3114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985314" y="3711579"/>
            <a:ext cx="2357375" cy="76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4"/>
              </a:lnSpc>
            </a:pPr>
            <a:r>
              <a:rPr lang="en-US" sz="4295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40%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56180" y="3558172"/>
            <a:ext cx="5734179" cy="307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29"/>
              </a:lnSpc>
            </a:pPr>
            <a:r>
              <a:rPr lang="en-US" sz="2753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•Nettoyage manuel coûteux</a:t>
            </a:r>
          </a:p>
          <a:p>
            <a:pPr algn="just">
              <a:lnSpc>
                <a:spcPts val="4929"/>
              </a:lnSpc>
            </a:pPr>
            <a:r>
              <a:rPr lang="en-US" sz="2753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•Risque pour le personnel</a:t>
            </a:r>
          </a:p>
          <a:p>
            <a:pPr algn="just">
              <a:lnSpc>
                <a:spcPts val="4929"/>
              </a:lnSpc>
            </a:pPr>
            <a:r>
              <a:rPr lang="en-US" sz="2753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•Irrégulier → pertes continues</a:t>
            </a:r>
          </a:p>
          <a:p>
            <a:pPr algn="just">
              <a:lnSpc>
                <a:spcPts val="4929"/>
              </a:lnSpc>
            </a:pPr>
            <a:r>
              <a:rPr lang="en-US" sz="2753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•Pas de détection automatique</a:t>
            </a:r>
          </a:p>
          <a:p>
            <a:pPr algn="just">
              <a:lnSpc>
                <a:spcPts val="4929"/>
              </a:lnSpc>
            </a:pPr>
            <a:endParaRPr lang="en-US" sz="2753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3665239" y="1913255"/>
            <a:ext cx="3371012" cy="152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243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Problème actuel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58914" y="7548240"/>
            <a:ext cx="8827214" cy="8827214"/>
          </a:xfrm>
          <a:custGeom>
            <a:avLst/>
            <a:gdLst/>
            <a:ahLst/>
            <a:cxnLst/>
            <a:rect l="l" t="t" r="r" b="b"/>
            <a:pathLst>
              <a:path w="8827214" h="8827214">
                <a:moveTo>
                  <a:pt x="0" y="0"/>
                </a:moveTo>
                <a:lnTo>
                  <a:pt x="8827215" y="0"/>
                </a:lnTo>
                <a:lnTo>
                  <a:pt x="8827215" y="8827214"/>
                </a:lnTo>
                <a:lnTo>
                  <a:pt x="0" y="8827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0916" y="5466834"/>
            <a:ext cx="5227784" cy="3791466"/>
            <a:chOff x="0" y="0"/>
            <a:chExt cx="1944198" cy="1410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44198" cy="1410035"/>
            </a:xfrm>
            <a:custGeom>
              <a:avLst/>
              <a:gdLst/>
              <a:ahLst/>
              <a:cxnLst/>
              <a:rect l="l" t="t" r="r" b="b"/>
              <a:pathLst>
                <a:path w="1944198" h="1410035">
                  <a:moveTo>
                    <a:pt x="34061" y="0"/>
                  </a:moveTo>
                  <a:lnTo>
                    <a:pt x="1910137" y="0"/>
                  </a:lnTo>
                  <a:cubicBezTo>
                    <a:pt x="1928948" y="0"/>
                    <a:pt x="1944198" y="15250"/>
                    <a:pt x="1944198" y="34061"/>
                  </a:cubicBezTo>
                  <a:lnTo>
                    <a:pt x="1944198" y="1375974"/>
                  </a:lnTo>
                  <a:cubicBezTo>
                    <a:pt x="1944198" y="1394786"/>
                    <a:pt x="1928948" y="1410035"/>
                    <a:pt x="1910137" y="1410035"/>
                  </a:cubicBezTo>
                  <a:lnTo>
                    <a:pt x="34061" y="1410035"/>
                  </a:lnTo>
                  <a:cubicBezTo>
                    <a:pt x="15250" y="1410035"/>
                    <a:pt x="0" y="1394786"/>
                    <a:pt x="0" y="1375974"/>
                  </a:cubicBezTo>
                  <a:lnTo>
                    <a:pt x="0" y="34061"/>
                  </a:lnTo>
                  <a:cubicBezTo>
                    <a:pt x="0" y="15250"/>
                    <a:pt x="15250" y="0"/>
                    <a:pt x="34061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944198" cy="1476710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01675" y="5466834"/>
            <a:ext cx="4884649" cy="3791466"/>
            <a:chOff x="0" y="0"/>
            <a:chExt cx="1816587" cy="14100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16587" cy="1410035"/>
            </a:xfrm>
            <a:custGeom>
              <a:avLst/>
              <a:gdLst/>
              <a:ahLst/>
              <a:cxnLst/>
              <a:rect l="l" t="t" r="r" b="b"/>
              <a:pathLst>
                <a:path w="1816587" h="1410035">
                  <a:moveTo>
                    <a:pt x="36454" y="0"/>
                  </a:moveTo>
                  <a:lnTo>
                    <a:pt x="1780134" y="0"/>
                  </a:lnTo>
                  <a:cubicBezTo>
                    <a:pt x="1800266" y="0"/>
                    <a:pt x="1816587" y="16321"/>
                    <a:pt x="1816587" y="36454"/>
                  </a:cubicBezTo>
                  <a:lnTo>
                    <a:pt x="1816587" y="1373582"/>
                  </a:lnTo>
                  <a:cubicBezTo>
                    <a:pt x="1816587" y="1393715"/>
                    <a:pt x="1800266" y="1410035"/>
                    <a:pt x="1780134" y="1410035"/>
                  </a:cubicBezTo>
                  <a:lnTo>
                    <a:pt x="36454" y="1410035"/>
                  </a:lnTo>
                  <a:cubicBezTo>
                    <a:pt x="16321" y="1410035"/>
                    <a:pt x="0" y="1393715"/>
                    <a:pt x="0" y="1373582"/>
                  </a:cubicBezTo>
                  <a:lnTo>
                    <a:pt x="0" y="36454"/>
                  </a:lnTo>
                  <a:cubicBezTo>
                    <a:pt x="0" y="16321"/>
                    <a:pt x="16321" y="0"/>
                    <a:pt x="36454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816587" cy="1476710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30960" y="5424558"/>
            <a:ext cx="5176799" cy="4001206"/>
            <a:chOff x="0" y="0"/>
            <a:chExt cx="1346334" cy="10405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6334" cy="1040596"/>
            </a:xfrm>
            <a:custGeom>
              <a:avLst/>
              <a:gdLst/>
              <a:ahLst/>
              <a:cxnLst/>
              <a:rect l="l" t="t" r="r" b="b"/>
              <a:pathLst>
                <a:path w="1346334" h="1040596">
                  <a:moveTo>
                    <a:pt x="34397" y="0"/>
                  </a:moveTo>
                  <a:lnTo>
                    <a:pt x="1311937" y="0"/>
                  </a:lnTo>
                  <a:cubicBezTo>
                    <a:pt x="1321059" y="0"/>
                    <a:pt x="1329808" y="3624"/>
                    <a:pt x="1336259" y="10075"/>
                  </a:cubicBezTo>
                  <a:cubicBezTo>
                    <a:pt x="1342710" y="16525"/>
                    <a:pt x="1346334" y="25274"/>
                    <a:pt x="1346334" y="34397"/>
                  </a:cubicBezTo>
                  <a:lnTo>
                    <a:pt x="1346334" y="1006200"/>
                  </a:lnTo>
                  <a:cubicBezTo>
                    <a:pt x="1346334" y="1015322"/>
                    <a:pt x="1342710" y="1024071"/>
                    <a:pt x="1336259" y="1030522"/>
                  </a:cubicBezTo>
                  <a:cubicBezTo>
                    <a:pt x="1329808" y="1036972"/>
                    <a:pt x="1321059" y="1040596"/>
                    <a:pt x="1311937" y="1040596"/>
                  </a:cubicBezTo>
                  <a:lnTo>
                    <a:pt x="34397" y="1040596"/>
                  </a:lnTo>
                  <a:cubicBezTo>
                    <a:pt x="25274" y="1040596"/>
                    <a:pt x="16525" y="1036972"/>
                    <a:pt x="10075" y="1030522"/>
                  </a:cubicBezTo>
                  <a:cubicBezTo>
                    <a:pt x="3624" y="1024071"/>
                    <a:pt x="0" y="1015322"/>
                    <a:pt x="0" y="1006200"/>
                  </a:cubicBezTo>
                  <a:lnTo>
                    <a:pt x="0" y="34397"/>
                  </a:lnTo>
                  <a:cubicBezTo>
                    <a:pt x="0" y="25274"/>
                    <a:pt x="3624" y="16525"/>
                    <a:pt x="10075" y="10075"/>
                  </a:cubicBezTo>
                  <a:cubicBezTo>
                    <a:pt x="16525" y="3624"/>
                    <a:pt x="25274" y="0"/>
                    <a:pt x="34397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346334" cy="110727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1343208"/>
            <a:ext cx="4330214" cy="4009326"/>
            <a:chOff x="0" y="0"/>
            <a:chExt cx="939520" cy="8698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9520" cy="869897"/>
            </a:xfrm>
            <a:custGeom>
              <a:avLst/>
              <a:gdLst/>
              <a:ahLst/>
              <a:cxnLst/>
              <a:rect l="l" t="t" r="r" b="b"/>
              <a:pathLst>
                <a:path w="939520" h="869897">
                  <a:moveTo>
                    <a:pt x="41121" y="0"/>
                  </a:moveTo>
                  <a:lnTo>
                    <a:pt x="898399" y="0"/>
                  </a:lnTo>
                  <a:cubicBezTo>
                    <a:pt x="921109" y="0"/>
                    <a:pt x="939520" y="18411"/>
                    <a:pt x="939520" y="41121"/>
                  </a:cubicBezTo>
                  <a:lnTo>
                    <a:pt x="939520" y="828776"/>
                  </a:lnTo>
                  <a:cubicBezTo>
                    <a:pt x="939520" y="851487"/>
                    <a:pt x="921109" y="869897"/>
                    <a:pt x="898399" y="869897"/>
                  </a:cubicBezTo>
                  <a:lnTo>
                    <a:pt x="41121" y="869897"/>
                  </a:lnTo>
                  <a:cubicBezTo>
                    <a:pt x="18411" y="869897"/>
                    <a:pt x="0" y="851487"/>
                    <a:pt x="0" y="828776"/>
                  </a:cubicBezTo>
                  <a:lnTo>
                    <a:pt x="0" y="41121"/>
                  </a:lnTo>
                  <a:cubicBezTo>
                    <a:pt x="0" y="18411"/>
                    <a:pt x="18411" y="0"/>
                    <a:pt x="41121" y="0"/>
                  </a:cubicBezTo>
                  <a:close/>
                </a:path>
              </a:pathLst>
            </a:custGeom>
            <a:blipFill>
              <a:blip r:embed="rId3"/>
              <a:stretch>
                <a:fillRect l="-50022" r="-50022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7043542" y="1343208"/>
            <a:ext cx="4139219" cy="3877746"/>
            <a:chOff x="0" y="0"/>
            <a:chExt cx="898080" cy="8413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8080" cy="841349"/>
            </a:xfrm>
            <a:custGeom>
              <a:avLst/>
              <a:gdLst/>
              <a:ahLst/>
              <a:cxnLst/>
              <a:rect l="l" t="t" r="r" b="b"/>
              <a:pathLst>
                <a:path w="898080" h="841349">
                  <a:moveTo>
                    <a:pt x="43019" y="0"/>
                  </a:moveTo>
                  <a:lnTo>
                    <a:pt x="855061" y="0"/>
                  </a:lnTo>
                  <a:cubicBezTo>
                    <a:pt x="866471" y="0"/>
                    <a:pt x="877413" y="4532"/>
                    <a:pt x="885480" y="12600"/>
                  </a:cubicBezTo>
                  <a:cubicBezTo>
                    <a:pt x="893548" y="20667"/>
                    <a:pt x="898080" y="31609"/>
                    <a:pt x="898080" y="43019"/>
                  </a:cubicBezTo>
                  <a:lnTo>
                    <a:pt x="898080" y="798330"/>
                  </a:lnTo>
                  <a:cubicBezTo>
                    <a:pt x="898080" y="822089"/>
                    <a:pt x="878820" y="841349"/>
                    <a:pt x="855061" y="841349"/>
                  </a:cubicBezTo>
                  <a:lnTo>
                    <a:pt x="43019" y="841349"/>
                  </a:lnTo>
                  <a:cubicBezTo>
                    <a:pt x="31609" y="841349"/>
                    <a:pt x="20667" y="836816"/>
                    <a:pt x="12600" y="828749"/>
                  </a:cubicBezTo>
                  <a:cubicBezTo>
                    <a:pt x="4532" y="820681"/>
                    <a:pt x="0" y="809739"/>
                    <a:pt x="0" y="798330"/>
                  </a:cubicBezTo>
                  <a:lnTo>
                    <a:pt x="0" y="43019"/>
                  </a:lnTo>
                  <a:cubicBezTo>
                    <a:pt x="0" y="19260"/>
                    <a:pt x="19260" y="0"/>
                    <a:pt x="43019" y="0"/>
                  </a:cubicBezTo>
                  <a:close/>
                </a:path>
              </a:pathLst>
            </a:custGeom>
            <a:blipFill>
              <a:blip r:embed="rId4"/>
              <a:stretch>
                <a:fillRect l="-9687" r="-968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3028749" y="1228908"/>
            <a:ext cx="4256204" cy="3970909"/>
            <a:chOff x="0" y="0"/>
            <a:chExt cx="923462" cy="8615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3462" cy="861562"/>
            </a:xfrm>
            <a:custGeom>
              <a:avLst/>
              <a:gdLst/>
              <a:ahLst/>
              <a:cxnLst/>
              <a:rect l="l" t="t" r="r" b="b"/>
              <a:pathLst>
                <a:path w="923462" h="861562">
                  <a:moveTo>
                    <a:pt x="41836" y="0"/>
                  </a:moveTo>
                  <a:lnTo>
                    <a:pt x="881626" y="0"/>
                  </a:lnTo>
                  <a:cubicBezTo>
                    <a:pt x="904731" y="0"/>
                    <a:pt x="923462" y="18731"/>
                    <a:pt x="923462" y="41836"/>
                  </a:cubicBezTo>
                  <a:lnTo>
                    <a:pt x="923462" y="819726"/>
                  </a:lnTo>
                  <a:cubicBezTo>
                    <a:pt x="923462" y="830821"/>
                    <a:pt x="919054" y="841462"/>
                    <a:pt x="911208" y="849308"/>
                  </a:cubicBezTo>
                  <a:cubicBezTo>
                    <a:pt x="903363" y="857154"/>
                    <a:pt x="892721" y="861562"/>
                    <a:pt x="881626" y="861562"/>
                  </a:cubicBezTo>
                  <a:lnTo>
                    <a:pt x="41836" y="861562"/>
                  </a:lnTo>
                  <a:cubicBezTo>
                    <a:pt x="18731" y="861562"/>
                    <a:pt x="0" y="842831"/>
                    <a:pt x="0" y="819726"/>
                  </a:cubicBezTo>
                  <a:lnTo>
                    <a:pt x="0" y="41836"/>
                  </a:lnTo>
                  <a:cubicBezTo>
                    <a:pt x="0" y="18731"/>
                    <a:pt x="18731" y="0"/>
                    <a:pt x="41836" y="0"/>
                  </a:cubicBezTo>
                  <a:close/>
                </a:path>
              </a:pathLst>
            </a:custGeom>
            <a:blipFill>
              <a:blip r:embed="rId5"/>
              <a:stretch>
                <a:fillRect t="-5296" b="-5296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3048748" y="153114"/>
            <a:ext cx="12196461" cy="999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3154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LES DIFFÉRENTS SYSTÈMES INTÉLLIGENTS DE NETTOYAGE DE PANNEAUX SOLAIRES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7083" y="5597071"/>
            <a:ext cx="3995679" cy="55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Robot Autonome 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080" y="5606596"/>
            <a:ext cx="4778587" cy="5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793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Robot Semi-Automatique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34834" y="5598429"/>
            <a:ext cx="5272925" cy="960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3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 Panneaux Autonettoyants (Nanotechnologie)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28749" y="6679484"/>
            <a:ext cx="3897831" cy="175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070" lvl="1" indent="-293035" algn="l">
              <a:lnSpc>
                <a:spcPts val="4669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Non disponibles  </a:t>
            </a:r>
          </a:p>
          <a:p>
            <a:pPr marL="586070" lvl="1" indent="-293035" algn="l">
              <a:lnSpc>
                <a:spcPts val="4669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Coût incertain </a:t>
            </a:r>
          </a:p>
          <a:p>
            <a:pPr marL="586070" lvl="1" indent="-293035" algn="l">
              <a:lnSpc>
                <a:spcPts val="4669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Non compatibles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45575" y="6261458"/>
            <a:ext cx="4878694" cy="2053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Coût élevé </a:t>
            </a:r>
          </a:p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Maintenance complexe</a:t>
            </a:r>
          </a:p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Importation coûteuse</a:t>
            </a:r>
          </a:p>
          <a:p>
            <a:pPr marL="586070" lvl="1" indent="-293035" algn="l">
              <a:lnSpc>
                <a:spcPts val="5781"/>
              </a:lnSpc>
              <a:buFont typeface="Arial"/>
              <a:buChar char="•"/>
            </a:pPr>
            <a:r>
              <a:rPr lang="en-US" sz="27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Surdimensionné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2973" y="6218846"/>
            <a:ext cx="4878694" cy="269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891" lvl="1" indent="-271445" algn="l">
              <a:lnSpc>
                <a:spcPts val="4299"/>
              </a:lnSpc>
              <a:buFont typeface="Arial"/>
              <a:buChar char="•"/>
            </a:pPr>
            <a:r>
              <a:rPr lang="en-US" sz="25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Coût élevé (10–30 k€)</a:t>
            </a:r>
          </a:p>
          <a:p>
            <a:pPr marL="542891" lvl="1" indent="-271445" algn="l">
              <a:lnSpc>
                <a:spcPts val="4299"/>
              </a:lnSpc>
              <a:buFont typeface="Arial"/>
              <a:buChar char="•"/>
            </a:pPr>
            <a:r>
              <a:rPr lang="en-US" sz="25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opérateur requis</a:t>
            </a:r>
          </a:p>
          <a:p>
            <a:pPr marL="542891" lvl="1" indent="-271445" algn="l">
              <a:lnSpc>
                <a:spcPts val="4299"/>
              </a:lnSpc>
              <a:buFont typeface="Arial"/>
              <a:buChar char="•"/>
            </a:pPr>
            <a:r>
              <a:rPr lang="en-US" sz="2514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peu adapté aux petites/moyennes installations.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6538" y="1468872"/>
            <a:ext cx="2826971" cy="2888998"/>
            <a:chOff x="0" y="0"/>
            <a:chExt cx="795105" cy="812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5105" cy="812550"/>
            </a:xfrm>
            <a:custGeom>
              <a:avLst/>
              <a:gdLst/>
              <a:ahLst/>
              <a:cxnLst/>
              <a:rect l="l" t="t" r="r" b="b"/>
              <a:pathLst>
                <a:path w="795105" h="812550">
                  <a:moveTo>
                    <a:pt x="273859" y="0"/>
                  </a:moveTo>
                  <a:lnTo>
                    <a:pt x="521245" y="0"/>
                  </a:lnTo>
                  <a:cubicBezTo>
                    <a:pt x="593877" y="0"/>
                    <a:pt x="663534" y="28853"/>
                    <a:pt x="714893" y="80211"/>
                  </a:cubicBezTo>
                  <a:cubicBezTo>
                    <a:pt x="766252" y="131570"/>
                    <a:pt x="795105" y="201227"/>
                    <a:pt x="795105" y="273859"/>
                  </a:cubicBezTo>
                  <a:lnTo>
                    <a:pt x="795105" y="538691"/>
                  </a:lnTo>
                  <a:cubicBezTo>
                    <a:pt x="795105" y="689939"/>
                    <a:pt x="672494" y="812550"/>
                    <a:pt x="521245" y="812550"/>
                  </a:cubicBezTo>
                  <a:lnTo>
                    <a:pt x="273859" y="812550"/>
                  </a:lnTo>
                  <a:cubicBezTo>
                    <a:pt x="122611" y="812550"/>
                    <a:pt x="0" y="689939"/>
                    <a:pt x="0" y="538691"/>
                  </a:cubicBezTo>
                  <a:lnTo>
                    <a:pt x="0" y="273859"/>
                  </a:lnTo>
                  <a:cubicBezTo>
                    <a:pt x="0" y="122611"/>
                    <a:pt x="122611" y="0"/>
                    <a:pt x="273859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95105" cy="869700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just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5295" y="290566"/>
            <a:ext cx="1178307" cy="11783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270A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4074120" y="417162"/>
            <a:ext cx="854979" cy="940829"/>
          </a:xfrm>
          <a:custGeom>
            <a:avLst/>
            <a:gdLst/>
            <a:ahLst/>
            <a:cxnLst/>
            <a:rect l="l" t="t" r="r" b="b"/>
            <a:pathLst>
              <a:path w="854979" h="940829">
                <a:moveTo>
                  <a:pt x="0" y="0"/>
                </a:moveTo>
                <a:lnTo>
                  <a:pt x="854978" y="0"/>
                </a:lnTo>
                <a:lnTo>
                  <a:pt x="854978" y="940830"/>
                </a:lnTo>
                <a:lnTo>
                  <a:pt x="0" y="940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0.001"/>
                </p14:media>
              </p:ext>
            </p:extLst>
          </p:nvPr>
        </p:nvPicPr>
        <p:blipFill>
          <a:blip r:embed="rId5"/>
          <a:srcRect l="7633" r="7458"/>
          <a:stretch>
            <a:fillRect/>
          </a:stretch>
        </p:blipFill>
        <p:spPr>
          <a:xfrm>
            <a:off x="4514449" y="2076506"/>
            <a:ext cx="9259102" cy="6133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</a:ln>
        </p:spPr>
      </p:pic>
      <p:grpSp>
        <p:nvGrpSpPr>
          <p:cNvPr id="13" name="Group 13"/>
          <p:cNvGrpSpPr/>
          <p:nvPr/>
        </p:nvGrpSpPr>
        <p:grpSpPr>
          <a:xfrm>
            <a:off x="14995120" y="1259322"/>
            <a:ext cx="3041980" cy="2888998"/>
            <a:chOff x="0" y="0"/>
            <a:chExt cx="883031" cy="8387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3031" cy="838708"/>
            </a:xfrm>
            <a:custGeom>
              <a:avLst/>
              <a:gdLst/>
              <a:ahLst/>
              <a:cxnLst/>
              <a:rect l="l" t="t" r="r" b="b"/>
              <a:pathLst>
                <a:path w="883031" h="838708">
                  <a:moveTo>
                    <a:pt x="883031" y="254503"/>
                  </a:moveTo>
                  <a:lnTo>
                    <a:pt x="883031" y="584205"/>
                  </a:lnTo>
                  <a:cubicBezTo>
                    <a:pt x="883031" y="724763"/>
                    <a:pt x="769086" y="838708"/>
                    <a:pt x="628528" y="838708"/>
                  </a:cubicBezTo>
                  <a:lnTo>
                    <a:pt x="254503" y="838708"/>
                  </a:lnTo>
                  <a:cubicBezTo>
                    <a:pt x="113945" y="838708"/>
                    <a:pt x="0" y="724763"/>
                    <a:pt x="0" y="584205"/>
                  </a:cubicBezTo>
                  <a:lnTo>
                    <a:pt x="0" y="254503"/>
                  </a:lnTo>
                  <a:cubicBezTo>
                    <a:pt x="0" y="113945"/>
                    <a:pt x="113945" y="0"/>
                    <a:pt x="254503" y="0"/>
                  </a:cubicBezTo>
                  <a:lnTo>
                    <a:pt x="628528" y="0"/>
                  </a:lnTo>
                  <a:cubicBezTo>
                    <a:pt x="769086" y="0"/>
                    <a:pt x="883031" y="113945"/>
                    <a:pt x="883031" y="254503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83031" cy="89585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just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135903" y="5674299"/>
            <a:ext cx="2617707" cy="2862562"/>
            <a:chOff x="0" y="0"/>
            <a:chExt cx="883031" cy="9654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3031" cy="965454"/>
            </a:xfrm>
            <a:custGeom>
              <a:avLst/>
              <a:gdLst/>
              <a:ahLst/>
              <a:cxnLst/>
              <a:rect l="l" t="t" r="r" b="b"/>
              <a:pathLst>
                <a:path w="883031" h="965454">
                  <a:moveTo>
                    <a:pt x="883031" y="295752"/>
                  </a:moveTo>
                  <a:lnTo>
                    <a:pt x="883031" y="669702"/>
                  </a:lnTo>
                  <a:cubicBezTo>
                    <a:pt x="883031" y="833041"/>
                    <a:pt x="750618" y="965454"/>
                    <a:pt x="587279" y="965454"/>
                  </a:cubicBezTo>
                  <a:lnTo>
                    <a:pt x="295752" y="965454"/>
                  </a:lnTo>
                  <a:cubicBezTo>
                    <a:pt x="217314" y="965454"/>
                    <a:pt x="142088" y="934294"/>
                    <a:pt x="86624" y="878830"/>
                  </a:cubicBezTo>
                  <a:cubicBezTo>
                    <a:pt x="31159" y="823366"/>
                    <a:pt x="0" y="748140"/>
                    <a:pt x="0" y="669702"/>
                  </a:cubicBezTo>
                  <a:lnTo>
                    <a:pt x="0" y="295752"/>
                  </a:lnTo>
                  <a:cubicBezTo>
                    <a:pt x="0" y="132413"/>
                    <a:pt x="132413" y="0"/>
                    <a:pt x="295752" y="0"/>
                  </a:cubicBezTo>
                  <a:lnTo>
                    <a:pt x="587279" y="0"/>
                  </a:lnTo>
                  <a:cubicBezTo>
                    <a:pt x="750618" y="0"/>
                    <a:pt x="883031" y="132413"/>
                    <a:pt x="883031" y="295752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83031" cy="102260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just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161682" y="2715845"/>
            <a:ext cx="1288952" cy="1288952"/>
          </a:xfrm>
          <a:custGeom>
            <a:avLst/>
            <a:gdLst/>
            <a:ahLst/>
            <a:cxnLst/>
            <a:rect l="l" t="t" r="r" b="b"/>
            <a:pathLst>
              <a:path w="1288952" h="1288952">
                <a:moveTo>
                  <a:pt x="0" y="0"/>
                </a:moveTo>
                <a:lnTo>
                  <a:pt x="1288952" y="0"/>
                </a:lnTo>
                <a:lnTo>
                  <a:pt x="1288952" y="1288952"/>
                </a:lnTo>
                <a:lnTo>
                  <a:pt x="0" y="128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00392">
            <a:off x="15689505" y="6897685"/>
            <a:ext cx="1554563" cy="1554563"/>
          </a:xfrm>
          <a:custGeom>
            <a:avLst/>
            <a:gdLst/>
            <a:ahLst/>
            <a:cxnLst/>
            <a:rect l="l" t="t" r="r" b="b"/>
            <a:pathLst>
              <a:path w="1554563" h="1554563">
                <a:moveTo>
                  <a:pt x="0" y="0"/>
                </a:moveTo>
                <a:lnTo>
                  <a:pt x="1554563" y="0"/>
                </a:lnTo>
                <a:lnTo>
                  <a:pt x="1554563" y="1554563"/>
                </a:lnTo>
                <a:lnTo>
                  <a:pt x="0" y="1554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634960" y="2372757"/>
            <a:ext cx="1636611" cy="1636611"/>
          </a:xfrm>
          <a:custGeom>
            <a:avLst/>
            <a:gdLst/>
            <a:ahLst/>
            <a:cxnLst/>
            <a:rect l="l" t="t" r="r" b="b"/>
            <a:pathLst>
              <a:path w="1636611" h="1636611">
                <a:moveTo>
                  <a:pt x="0" y="0"/>
                </a:moveTo>
                <a:lnTo>
                  <a:pt x="1636611" y="0"/>
                </a:lnTo>
                <a:lnTo>
                  <a:pt x="1636611" y="1636611"/>
                </a:lnTo>
                <a:lnTo>
                  <a:pt x="0" y="16366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347260" y="5615911"/>
            <a:ext cx="2826971" cy="2888998"/>
            <a:chOff x="0" y="0"/>
            <a:chExt cx="795105" cy="812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5105" cy="812550"/>
            </a:xfrm>
            <a:custGeom>
              <a:avLst/>
              <a:gdLst/>
              <a:ahLst/>
              <a:cxnLst/>
              <a:rect l="l" t="t" r="r" b="b"/>
              <a:pathLst>
                <a:path w="795105" h="812550">
                  <a:moveTo>
                    <a:pt x="273859" y="0"/>
                  </a:moveTo>
                  <a:lnTo>
                    <a:pt x="521245" y="0"/>
                  </a:lnTo>
                  <a:cubicBezTo>
                    <a:pt x="593877" y="0"/>
                    <a:pt x="663534" y="28853"/>
                    <a:pt x="714893" y="80211"/>
                  </a:cubicBezTo>
                  <a:cubicBezTo>
                    <a:pt x="766252" y="131570"/>
                    <a:pt x="795105" y="201227"/>
                    <a:pt x="795105" y="273859"/>
                  </a:cubicBezTo>
                  <a:lnTo>
                    <a:pt x="795105" y="538691"/>
                  </a:lnTo>
                  <a:cubicBezTo>
                    <a:pt x="795105" y="689939"/>
                    <a:pt x="672494" y="812550"/>
                    <a:pt x="521245" y="812550"/>
                  </a:cubicBezTo>
                  <a:lnTo>
                    <a:pt x="273859" y="812550"/>
                  </a:lnTo>
                  <a:cubicBezTo>
                    <a:pt x="122611" y="812550"/>
                    <a:pt x="0" y="689939"/>
                    <a:pt x="0" y="538691"/>
                  </a:cubicBezTo>
                  <a:lnTo>
                    <a:pt x="0" y="273859"/>
                  </a:lnTo>
                  <a:cubicBezTo>
                    <a:pt x="0" y="122611"/>
                    <a:pt x="122611" y="0"/>
                    <a:pt x="273859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795105" cy="869700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just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187677" y="7148854"/>
            <a:ext cx="1165187" cy="1165187"/>
          </a:xfrm>
          <a:custGeom>
            <a:avLst/>
            <a:gdLst/>
            <a:ahLst/>
            <a:cxnLst/>
            <a:rect l="l" t="t" r="r" b="b"/>
            <a:pathLst>
              <a:path w="1165187" h="1165187">
                <a:moveTo>
                  <a:pt x="0" y="0"/>
                </a:moveTo>
                <a:lnTo>
                  <a:pt x="1165188" y="0"/>
                </a:lnTo>
                <a:lnTo>
                  <a:pt x="1165188" y="1165187"/>
                </a:lnTo>
                <a:lnTo>
                  <a:pt x="0" y="11651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268042">
            <a:off x="13692015" y="2349724"/>
            <a:ext cx="2014060" cy="750237"/>
          </a:xfrm>
          <a:custGeom>
            <a:avLst/>
            <a:gdLst/>
            <a:ahLst/>
            <a:cxnLst/>
            <a:rect l="l" t="t" r="r" b="b"/>
            <a:pathLst>
              <a:path w="2014060" h="750237">
                <a:moveTo>
                  <a:pt x="0" y="0"/>
                </a:moveTo>
                <a:lnTo>
                  <a:pt x="2014059" y="0"/>
                </a:lnTo>
                <a:lnTo>
                  <a:pt x="2014059" y="750238"/>
                </a:lnTo>
                <a:lnTo>
                  <a:pt x="0" y="750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5664441" y="469721"/>
            <a:ext cx="7427699" cy="99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5754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NOTRE SOLUTION !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135903" y="1348080"/>
            <a:ext cx="2800030" cy="10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</a:pPr>
            <a:endParaRPr/>
          </a:p>
          <a:p>
            <a:pPr algn="ctr">
              <a:lnSpc>
                <a:spcPts val="4774"/>
              </a:lnSpc>
            </a:pPr>
            <a:r>
              <a:rPr lang="en-US" sz="3410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Scalable</a:t>
            </a:r>
            <a:r>
              <a:rPr lang="en-US" sz="341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30" name="Freeform 30"/>
          <p:cNvSpPr/>
          <p:nvPr/>
        </p:nvSpPr>
        <p:spPr>
          <a:xfrm rot="1931106">
            <a:off x="13684776" y="6092327"/>
            <a:ext cx="2004212" cy="746569"/>
          </a:xfrm>
          <a:custGeom>
            <a:avLst/>
            <a:gdLst/>
            <a:ahLst/>
            <a:cxnLst/>
            <a:rect l="l" t="t" r="r" b="b"/>
            <a:pathLst>
              <a:path w="2004212" h="746569">
                <a:moveTo>
                  <a:pt x="0" y="0"/>
                </a:moveTo>
                <a:lnTo>
                  <a:pt x="2004212" y="0"/>
                </a:lnTo>
                <a:lnTo>
                  <a:pt x="2004212" y="746569"/>
                </a:lnTo>
                <a:lnTo>
                  <a:pt x="0" y="746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182302" y="5702752"/>
            <a:ext cx="2468209" cy="116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5"/>
              </a:lnSpc>
            </a:pPr>
            <a:endParaRPr/>
          </a:p>
          <a:p>
            <a:pPr algn="ctr">
              <a:lnSpc>
                <a:spcPts val="3676"/>
              </a:lnSpc>
            </a:pPr>
            <a:r>
              <a:rPr lang="en-US" sz="2626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Contrôle à     distance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4456" y="6054680"/>
            <a:ext cx="2407005" cy="850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8"/>
              </a:lnSpc>
            </a:pPr>
            <a:r>
              <a:rPr lang="en-US" sz="2763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Sécurité totale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9121" y="1807931"/>
            <a:ext cx="2662675" cy="94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sz="3057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Coût accessible</a:t>
            </a:r>
          </a:p>
        </p:txBody>
      </p:sp>
      <p:sp>
        <p:nvSpPr>
          <p:cNvPr id="34" name="Freeform 34"/>
          <p:cNvSpPr/>
          <p:nvPr/>
        </p:nvSpPr>
        <p:spPr>
          <a:xfrm rot="-8765206">
            <a:off x="2396819" y="3280698"/>
            <a:ext cx="2330899" cy="868260"/>
          </a:xfrm>
          <a:custGeom>
            <a:avLst/>
            <a:gdLst/>
            <a:ahLst/>
            <a:cxnLst/>
            <a:rect l="l" t="t" r="r" b="b"/>
            <a:pathLst>
              <a:path w="2330899" h="868260">
                <a:moveTo>
                  <a:pt x="0" y="0"/>
                </a:moveTo>
                <a:lnTo>
                  <a:pt x="2330900" y="0"/>
                </a:lnTo>
                <a:lnTo>
                  <a:pt x="2330900" y="868259"/>
                </a:lnTo>
                <a:lnTo>
                  <a:pt x="0" y="8682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8986529">
            <a:off x="2544505" y="6471139"/>
            <a:ext cx="2330899" cy="868260"/>
          </a:xfrm>
          <a:custGeom>
            <a:avLst/>
            <a:gdLst/>
            <a:ahLst/>
            <a:cxnLst/>
            <a:rect l="l" t="t" r="r" b="b"/>
            <a:pathLst>
              <a:path w="2330899" h="868260">
                <a:moveTo>
                  <a:pt x="0" y="0"/>
                </a:moveTo>
                <a:lnTo>
                  <a:pt x="2330899" y="0"/>
                </a:lnTo>
                <a:lnTo>
                  <a:pt x="2330899" y="868260"/>
                </a:lnTo>
                <a:lnTo>
                  <a:pt x="0" y="868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69774">
            <a:off x="4338183" y="4761436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499"/>
                </a:lnTo>
                <a:lnTo>
                  <a:pt x="0" y="157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t="-29195" b="-2919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089785">
            <a:off x="13677092" y="-1500513"/>
            <a:ext cx="5574251" cy="14099397"/>
            <a:chOff x="0" y="0"/>
            <a:chExt cx="1468115" cy="37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269774">
            <a:off x="3582269" y="5072441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500"/>
                </a:lnTo>
                <a:lnTo>
                  <a:pt x="0" y="157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t="-29195" b="-29195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0089785">
            <a:off x="14856292" y="-1500513"/>
            <a:ext cx="5574251" cy="14099397"/>
            <a:chOff x="0" y="0"/>
            <a:chExt cx="1468115" cy="37134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6902959" y="9765059"/>
            <a:ext cx="20106184" cy="624783"/>
            <a:chOff x="0" y="0"/>
            <a:chExt cx="5295456" cy="164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5456" cy="164552"/>
            </a:xfrm>
            <a:custGeom>
              <a:avLst/>
              <a:gdLst/>
              <a:ahLst/>
              <a:cxnLst/>
              <a:rect l="l" t="t" r="r" b="b"/>
              <a:pathLst>
                <a:path w="5295456" h="164552">
                  <a:moveTo>
                    <a:pt x="0" y="0"/>
                  </a:moveTo>
                  <a:lnTo>
                    <a:pt x="5295456" y="0"/>
                  </a:lnTo>
                  <a:lnTo>
                    <a:pt x="5295456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295456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117381" y="3380482"/>
            <a:ext cx="3526036" cy="3526036"/>
          </a:xfrm>
          <a:custGeom>
            <a:avLst/>
            <a:gdLst/>
            <a:ahLst/>
            <a:cxnLst/>
            <a:rect l="l" t="t" r="r" b="b"/>
            <a:pathLst>
              <a:path w="3526036" h="3526036">
                <a:moveTo>
                  <a:pt x="0" y="0"/>
                </a:moveTo>
                <a:lnTo>
                  <a:pt x="3526036" y="0"/>
                </a:lnTo>
                <a:lnTo>
                  <a:pt x="3526036" y="3526036"/>
                </a:lnTo>
                <a:lnTo>
                  <a:pt x="0" y="3526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33475" y="3574193"/>
            <a:ext cx="9724359" cy="291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Architecture du système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589" y="-691287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18606" y="35354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92338" y="43953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solidFill>
              <a:srgbClr val="6EA8DE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793476" y="5440410"/>
            <a:ext cx="1057690" cy="1057690"/>
          </a:xfrm>
          <a:custGeom>
            <a:avLst/>
            <a:gdLst/>
            <a:ahLst/>
            <a:cxnLst/>
            <a:rect l="l" t="t" r="r" b="b"/>
            <a:pathLst>
              <a:path w="1057690" h="1057690">
                <a:moveTo>
                  <a:pt x="0" y="0"/>
                </a:moveTo>
                <a:lnTo>
                  <a:pt x="1057690" y="0"/>
                </a:lnTo>
                <a:lnTo>
                  <a:pt x="1057690" y="1057690"/>
                </a:lnTo>
                <a:lnTo>
                  <a:pt x="0" y="1057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66842" y="1534805"/>
            <a:ext cx="7584324" cy="7391714"/>
          </a:xfrm>
          <a:custGeom>
            <a:avLst/>
            <a:gdLst/>
            <a:ahLst/>
            <a:cxnLst/>
            <a:rect l="l" t="t" r="r" b="b"/>
            <a:pathLst>
              <a:path w="7584324" h="7391714">
                <a:moveTo>
                  <a:pt x="0" y="0"/>
                </a:moveTo>
                <a:lnTo>
                  <a:pt x="7584324" y="0"/>
                </a:lnTo>
                <a:lnTo>
                  <a:pt x="7584324" y="7391713"/>
                </a:lnTo>
                <a:lnTo>
                  <a:pt x="0" y="7391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56" r="-164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25847" y="58259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DU SYSTÈME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175363" y="2388376"/>
            <a:ext cx="9666103" cy="6104067"/>
          </a:xfrm>
          <a:custGeom>
            <a:avLst/>
            <a:gdLst/>
            <a:ahLst/>
            <a:cxnLst/>
            <a:rect l="l" t="t" r="r" b="b"/>
            <a:pathLst>
              <a:path w="9666103" h="6104067">
                <a:moveTo>
                  <a:pt x="0" y="0"/>
                </a:moveTo>
                <a:lnTo>
                  <a:pt x="9666103" y="0"/>
                </a:lnTo>
                <a:lnTo>
                  <a:pt x="9666103" y="6104067"/>
                </a:lnTo>
                <a:lnTo>
                  <a:pt x="0" y="6104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38" b="-2449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10346143" y="8709031"/>
            <a:ext cx="532454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Schéma électronique — KiCad 9.0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6733" y="8709031"/>
            <a:ext cx="532454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Schéma mécanique — SolidWorks 2025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589" y="-691287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18606" y="35354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92338" y="43953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solidFill>
              <a:srgbClr val="6EA8DE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2552558" y="1684173"/>
            <a:ext cx="13182884" cy="7462010"/>
          </a:xfrm>
          <a:prstGeom prst="rect">
            <a:avLst/>
          </a:prstGeom>
          <a:ln w="38100" cap="sq">
            <a:solidFill>
              <a:srgbClr val="7DB6DA"/>
            </a:solidFill>
            <a:prstDash val="solid"/>
          </a:ln>
        </p:spPr>
      </p:pic>
      <p:sp>
        <p:nvSpPr>
          <p:cNvPr id="13" name="TextBox 13"/>
          <p:cNvSpPr txBox="1"/>
          <p:nvPr/>
        </p:nvSpPr>
        <p:spPr>
          <a:xfrm>
            <a:off x="4725847" y="58259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DU SYSTÈME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889179" y="9191625"/>
            <a:ext cx="532454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Schéma mécanique — SolidWorks 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69774">
            <a:off x="4338183" y="4761436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499"/>
                </a:lnTo>
                <a:lnTo>
                  <a:pt x="0" y="157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t="-29195" b="-2919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089785">
            <a:off x="13677092" y="-1500513"/>
            <a:ext cx="5574251" cy="14099397"/>
            <a:chOff x="0" y="0"/>
            <a:chExt cx="1468115" cy="37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269774">
            <a:off x="3582269" y="5072441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500"/>
                </a:lnTo>
                <a:lnTo>
                  <a:pt x="0" y="157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t="-29195" b="-29195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0089785">
            <a:off x="14856292" y="-1500513"/>
            <a:ext cx="5574251" cy="14099397"/>
            <a:chOff x="0" y="0"/>
            <a:chExt cx="1468115" cy="37134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6902959" y="9765059"/>
            <a:ext cx="20106184" cy="624783"/>
            <a:chOff x="0" y="0"/>
            <a:chExt cx="5295456" cy="164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5456" cy="164552"/>
            </a:xfrm>
            <a:custGeom>
              <a:avLst/>
              <a:gdLst/>
              <a:ahLst/>
              <a:cxnLst/>
              <a:rect l="l" t="t" r="r" b="b"/>
              <a:pathLst>
                <a:path w="5295456" h="164552">
                  <a:moveTo>
                    <a:pt x="0" y="0"/>
                  </a:moveTo>
                  <a:lnTo>
                    <a:pt x="5295456" y="0"/>
                  </a:lnTo>
                  <a:lnTo>
                    <a:pt x="5295456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295456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81342" y="3313595"/>
            <a:ext cx="3564560" cy="3564560"/>
          </a:xfrm>
          <a:custGeom>
            <a:avLst/>
            <a:gdLst/>
            <a:ahLst/>
            <a:cxnLst/>
            <a:rect l="l" t="t" r="r" b="b"/>
            <a:pathLst>
              <a:path w="3564560" h="3564560">
                <a:moveTo>
                  <a:pt x="0" y="0"/>
                </a:moveTo>
                <a:lnTo>
                  <a:pt x="3564560" y="0"/>
                </a:lnTo>
                <a:lnTo>
                  <a:pt x="3564560" y="3564560"/>
                </a:lnTo>
                <a:lnTo>
                  <a:pt x="0" y="3564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33475" y="3574193"/>
            <a:ext cx="9724359" cy="291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Conception matérielle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solidFill>
              <a:srgbClr val="6EA8DE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39347" y="3796223"/>
            <a:ext cx="2950329" cy="295032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50" r="-1249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4608123" y="3887339"/>
            <a:ext cx="2929658" cy="2961056"/>
            <a:chOff x="0" y="0"/>
            <a:chExt cx="894881" cy="9044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4881" cy="904472"/>
            </a:xfrm>
            <a:custGeom>
              <a:avLst/>
              <a:gdLst/>
              <a:ahLst/>
              <a:cxnLst/>
              <a:rect l="l" t="t" r="r" b="b"/>
              <a:pathLst>
                <a:path w="894881" h="904472">
                  <a:moveTo>
                    <a:pt x="447441" y="0"/>
                  </a:moveTo>
                  <a:cubicBezTo>
                    <a:pt x="200326" y="0"/>
                    <a:pt x="0" y="202473"/>
                    <a:pt x="0" y="452236"/>
                  </a:cubicBezTo>
                  <a:cubicBezTo>
                    <a:pt x="0" y="701999"/>
                    <a:pt x="200326" y="904472"/>
                    <a:pt x="447441" y="904472"/>
                  </a:cubicBezTo>
                  <a:cubicBezTo>
                    <a:pt x="694555" y="904472"/>
                    <a:pt x="894881" y="701999"/>
                    <a:pt x="894881" y="452236"/>
                  </a:cubicBezTo>
                  <a:cubicBezTo>
                    <a:pt x="894881" y="202473"/>
                    <a:pt x="694555" y="0"/>
                    <a:pt x="447441" y="0"/>
                  </a:cubicBezTo>
                  <a:close/>
                </a:path>
              </a:pathLst>
            </a:custGeom>
            <a:blipFill>
              <a:blip r:embed="rId4"/>
              <a:stretch>
                <a:fillRect l="-1699" r="-1699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97525" y="3943467"/>
            <a:ext cx="2818833" cy="2860235"/>
            <a:chOff x="0" y="0"/>
            <a:chExt cx="766112" cy="7773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6112" cy="777365"/>
            </a:xfrm>
            <a:custGeom>
              <a:avLst/>
              <a:gdLst/>
              <a:ahLst/>
              <a:cxnLst/>
              <a:rect l="l" t="t" r="r" b="b"/>
              <a:pathLst>
                <a:path w="766112" h="777365">
                  <a:moveTo>
                    <a:pt x="383056" y="0"/>
                  </a:moveTo>
                  <a:cubicBezTo>
                    <a:pt x="171500" y="0"/>
                    <a:pt x="0" y="174019"/>
                    <a:pt x="0" y="388682"/>
                  </a:cubicBezTo>
                  <a:cubicBezTo>
                    <a:pt x="0" y="603346"/>
                    <a:pt x="171500" y="777365"/>
                    <a:pt x="383056" y="777365"/>
                  </a:cubicBezTo>
                  <a:cubicBezTo>
                    <a:pt x="594612" y="777365"/>
                    <a:pt x="766112" y="603346"/>
                    <a:pt x="766112" y="388682"/>
                  </a:cubicBezTo>
                  <a:cubicBezTo>
                    <a:pt x="766112" y="174019"/>
                    <a:pt x="594612" y="0"/>
                    <a:pt x="383056" y="0"/>
                  </a:cubicBezTo>
                  <a:close/>
                </a:path>
              </a:pathLst>
            </a:custGeom>
            <a:blipFill>
              <a:blip r:embed="rId5"/>
              <a:stretch>
                <a:fillRect l="-5911" r="-5911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27177" y="3917521"/>
            <a:ext cx="2818833" cy="2860235"/>
            <a:chOff x="0" y="0"/>
            <a:chExt cx="766112" cy="7773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6112" cy="777365"/>
            </a:xfrm>
            <a:custGeom>
              <a:avLst/>
              <a:gdLst/>
              <a:ahLst/>
              <a:cxnLst/>
              <a:rect l="l" t="t" r="r" b="b"/>
              <a:pathLst>
                <a:path w="766112" h="777365">
                  <a:moveTo>
                    <a:pt x="383056" y="0"/>
                  </a:moveTo>
                  <a:cubicBezTo>
                    <a:pt x="171500" y="0"/>
                    <a:pt x="0" y="174019"/>
                    <a:pt x="0" y="388682"/>
                  </a:cubicBezTo>
                  <a:cubicBezTo>
                    <a:pt x="0" y="603346"/>
                    <a:pt x="171500" y="777365"/>
                    <a:pt x="383056" y="777365"/>
                  </a:cubicBezTo>
                  <a:cubicBezTo>
                    <a:pt x="594612" y="777365"/>
                    <a:pt x="766112" y="603346"/>
                    <a:pt x="766112" y="388682"/>
                  </a:cubicBezTo>
                  <a:cubicBezTo>
                    <a:pt x="766112" y="174019"/>
                    <a:pt x="594612" y="0"/>
                    <a:pt x="383056" y="0"/>
                  </a:cubicBezTo>
                  <a:close/>
                </a:path>
              </a:pathLst>
            </a:custGeom>
            <a:blipFill>
              <a:blip r:embed="rId6"/>
              <a:stretch>
                <a:fillRect l="-1123" r="-1123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3681846" y="1851737"/>
            <a:ext cx="6974110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PRINCIPAUX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1310" y="2109759"/>
            <a:ext cx="3532709" cy="63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869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Composants 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16322" y="75404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CONCEPTION MATÉRIELLE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50302" y="6966380"/>
            <a:ext cx="3328418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moteur a encodeur  JGB37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86256" y="6970315"/>
            <a:ext cx="177339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pompe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20567" y="6939835"/>
            <a:ext cx="4127563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dsecurity.tn/shop/adaptateur-alimentation-dc-12v-12?srsltid=AfmBOor5QlVbwFe4qavTOfcXm08sbttei91q3gN-s8kFVVi4HpADuByn"/>
              </a:rPr>
              <a:t>convertisseur</a:t>
            </a:r>
            <a:r>
              <a:rPr lang="en-US" sz="2400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dsecurity.tn/shop/adaptateur-alimentation-dc-12v-12?srsltid=AfmBOor5QlVbwFe4qavTOfcXm08sbttei91q3gN-s8kFVVi4HpADuByn"/>
              </a:rPr>
              <a:t> buck lm2596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219" y="6939835"/>
            <a:ext cx="4127563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dsecurity.tn/shop/adaptateur-alimentation-dc-12v-12?srsltid=AfmBOor5QlVbwFe4qavTOfcXm08sbttei91q3gN-s8kFVVi4HpADuByn"/>
              </a:rPr>
              <a:t>Adaptateur</a:t>
            </a:r>
            <a:r>
              <a:rPr lang="en-US" sz="2400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cdsecurity.tn/shop/adaptateur-alimentation-dc-12v-12?srsltid=AfmBOor5QlVbwFe4qavTOfcXm08sbttei91q3gN-s8kFVVi4HpADuByn"/>
              </a:rPr>
              <a:t> alimentation DC 12V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solidFill>
              <a:srgbClr val="6EA8DE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69142" y="4086146"/>
            <a:ext cx="2949717" cy="294971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1705" r="-11705"/>
              </a:stretch>
            </a:blipFill>
            <a:ln w="9525" cap="sq">
              <a:solidFill>
                <a:srgbClr val="1F4286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4157967" y="1851737"/>
            <a:ext cx="6974110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PILOTAGE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303" y="2182286"/>
            <a:ext cx="3987578" cy="63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869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Composants 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16322" y="75404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CONCEPTION MATÉRIELLE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560769" y="4030388"/>
            <a:ext cx="3035033" cy="303503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968" r="-968"/>
              </a:stretch>
            </a:blipFill>
            <a:ln w="9525" cap="sq">
              <a:solidFill>
                <a:srgbClr val="1F4286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3414076" y="7046554"/>
            <a:ext cx="3328418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Relais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0611" y="7080845"/>
            <a:ext cx="4922740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Driver moteur (L298N)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807533" y="3958148"/>
            <a:ext cx="2918383" cy="2994965"/>
            <a:chOff x="0" y="0"/>
            <a:chExt cx="840203" cy="8622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0203" cy="862251"/>
            </a:xfrm>
            <a:custGeom>
              <a:avLst/>
              <a:gdLst/>
              <a:ahLst/>
              <a:cxnLst/>
              <a:rect l="l" t="t" r="r" b="b"/>
              <a:pathLst>
                <a:path w="840203" h="862251">
                  <a:moveTo>
                    <a:pt x="420102" y="0"/>
                  </a:moveTo>
                  <a:cubicBezTo>
                    <a:pt x="188086" y="0"/>
                    <a:pt x="0" y="193022"/>
                    <a:pt x="0" y="431126"/>
                  </a:cubicBezTo>
                  <a:cubicBezTo>
                    <a:pt x="0" y="669230"/>
                    <a:pt x="188086" y="862251"/>
                    <a:pt x="420102" y="862251"/>
                  </a:cubicBezTo>
                  <a:cubicBezTo>
                    <a:pt x="652117" y="862251"/>
                    <a:pt x="840203" y="669230"/>
                    <a:pt x="840203" y="431126"/>
                  </a:cubicBezTo>
                  <a:cubicBezTo>
                    <a:pt x="840203" y="193022"/>
                    <a:pt x="652117" y="0"/>
                    <a:pt x="420102" y="0"/>
                  </a:cubicBezTo>
                  <a:close/>
                </a:path>
              </a:pathLst>
            </a:custGeom>
            <a:blipFill>
              <a:blip r:embed="rId5"/>
              <a:stretch>
                <a:fillRect l="-18499" r="-18499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380029" y="7079052"/>
            <a:ext cx="177339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ESP32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solidFill>
              <a:srgbClr val="6EA8DE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5367" y="3858658"/>
            <a:ext cx="2939782" cy="29397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8194" r="-8194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32381" y="3856722"/>
            <a:ext cx="3317744" cy="2941717"/>
            <a:chOff x="0" y="0"/>
            <a:chExt cx="916697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6697" cy="812800"/>
            </a:xfrm>
            <a:custGeom>
              <a:avLst/>
              <a:gdLst/>
              <a:ahLst/>
              <a:cxnLst/>
              <a:rect l="l" t="t" r="r" b="b"/>
              <a:pathLst>
                <a:path w="916697" h="812800">
                  <a:moveTo>
                    <a:pt x="458348" y="0"/>
                  </a:moveTo>
                  <a:cubicBezTo>
                    <a:pt x="205210" y="0"/>
                    <a:pt x="0" y="181951"/>
                    <a:pt x="0" y="406400"/>
                  </a:cubicBezTo>
                  <a:cubicBezTo>
                    <a:pt x="0" y="630849"/>
                    <a:pt x="205210" y="812800"/>
                    <a:pt x="458348" y="812800"/>
                  </a:cubicBezTo>
                  <a:cubicBezTo>
                    <a:pt x="711487" y="812800"/>
                    <a:pt x="916697" y="630849"/>
                    <a:pt x="916697" y="406400"/>
                  </a:cubicBezTo>
                  <a:cubicBezTo>
                    <a:pt x="916697" y="181951"/>
                    <a:pt x="711487" y="0"/>
                    <a:pt x="458348" y="0"/>
                  </a:cubicBezTo>
                  <a:close/>
                </a:path>
              </a:pathLst>
            </a:custGeom>
            <a:blipFill>
              <a:blip r:embed="rId4"/>
              <a:stretch>
                <a:fillRect l="-15814" r="-15814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61757" y="3785111"/>
            <a:ext cx="3248506" cy="3027612"/>
            <a:chOff x="0" y="0"/>
            <a:chExt cx="872102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2102" cy="812800"/>
            </a:xfrm>
            <a:custGeom>
              <a:avLst/>
              <a:gdLst/>
              <a:ahLst/>
              <a:cxnLst/>
              <a:rect l="l" t="t" r="r" b="b"/>
              <a:pathLst>
                <a:path w="872102" h="812800">
                  <a:moveTo>
                    <a:pt x="436051" y="0"/>
                  </a:moveTo>
                  <a:cubicBezTo>
                    <a:pt x="195227" y="0"/>
                    <a:pt x="0" y="181951"/>
                    <a:pt x="0" y="406400"/>
                  </a:cubicBezTo>
                  <a:cubicBezTo>
                    <a:pt x="0" y="630849"/>
                    <a:pt x="195227" y="812800"/>
                    <a:pt x="436051" y="812800"/>
                  </a:cubicBezTo>
                  <a:cubicBezTo>
                    <a:pt x="676875" y="812800"/>
                    <a:pt x="872102" y="630849"/>
                    <a:pt x="872102" y="406400"/>
                  </a:cubicBezTo>
                  <a:cubicBezTo>
                    <a:pt x="872102" y="181951"/>
                    <a:pt x="676875" y="0"/>
                    <a:pt x="436051" y="0"/>
                  </a:cubicBezTo>
                  <a:close/>
                </a:path>
              </a:pathLst>
            </a:custGeom>
            <a:blipFill>
              <a:blip r:embed="rId5"/>
              <a:stretch>
                <a:fillRect t="-1027" b="-1027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722244" y="3889886"/>
            <a:ext cx="3865493" cy="2908554"/>
            <a:chOff x="0" y="0"/>
            <a:chExt cx="1089177" cy="8195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89177" cy="819541"/>
            </a:xfrm>
            <a:custGeom>
              <a:avLst/>
              <a:gdLst/>
              <a:ahLst/>
              <a:cxnLst/>
              <a:rect l="l" t="t" r="r" b="b"/>
              <a:pathLst>
                <a:path w="1089177" h="819541">
                  <a:moveTo>
                    <a:pt x="544588" y="0"/>
                  </a:moveTo>
                  <a:cubicBezTo>
                    <a:pt x="243821" y="0"/>
                    <a:pt x="0" y="183460"/>
                    <a:pt x="0" y="409770"/>
                  </a:cubicBezTo>
                  <a:cubicBezTo>
                    <a:pt x="0" y="636080"/>
                    <a:pt x="243821" y="819541"/>
                    <a:pt x="544588" y="819541"/>
                  </a:cubicBezTo>
                  <a:cubicBezTo>
                    <a:pt x="845356" y="819541"/>
                    <a:pt x="1089177" y="636080"/>
                    <a:pt x="1089177" y="409770"/>
                  </a:cubicBezTo>
                  <a:cubicBezTo>
                    <a:pt x="1089177" y="183460"/>
                    <a:pt x="845356" y="0"/>
                    <a:pt x="544588" y="0"/>
                  </a:cubicBezTo>
                  <a:close/>
                </a:path>
              </a:pathLst>
            </a:custGeom>
            <a:blipFill>
              <a:blip r:embed="rId6"/>
              <a:stretch>
                <a:fillRect l="-3051"/>
              </a:stretch>
            </a:blipFill>
            <a:ln w="9525" cap="sq">
              <a:solidFill>
                <a:srgbClr val="2270A8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626964" y="1659649"/>
            <a:ext cx="6974110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CAPTEURS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6322" y="75404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CONCEPTION MATÉRIELLE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1775" y="6941578"/>
            <a:ext cx="3772244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Capteur de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Pluie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31191" y="6960628"/>
            <a:ext cx="2920122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Capteur de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Niveau d'Eau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7263" y="6941578"/>
            <a:ext cx="3003001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RTC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(DS1307)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80466" y="7036828"/>
            <a:ext cx="3663347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Micro-switch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(Fin de course)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69774">
            <a:off x="4338183" y="4761436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499"/>
                </a:lnTo>
                <a:lnTo>
                  <a:pt x="0" y="157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t="-29195" b="-2919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089785">
            <a:off x="13677092" y="-1500513"/>
            <a:ext cx="5574251" cy="14099397"/>
            <a:chOff x="0" y="0"/>
            <a:chExt cx="1468115" cy="37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269774">
            <a:off x="3582269" y="5072441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500"/>
                </a:lnTo>
                <a:lnTo>
                  <a:pt x="0" y="157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t="-29195" b="-29195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0089785">
            <a:off x="14856292" y="-1500513"/>
            <a:ext cx="5574251" cy="14099397"/>
            <a:chOff x="0" y="0"/>
            <a:chExt cx="1468115" cy="37134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6902959" y="9765059"/>
            <a:ext cx="20106184" cy="624783"/>
            <a:chOff x="0" y="0"/>
            <a:chExt cx="5295456" cy="164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5456" cy="164552"/>
            </a:xfrm>
            <a:custGeom>
              <a:avLst/>
              <a:gdLst/>
              <a:ahLst/>
              <a:cxnLst/>
              <a:rect l="l" t="t" r="r" b="b"/>
              <a:pathLst>
                <a:path w="5295456" h="164552">
                  <a:moveTo>
                    <a:pt x="0" y="0"/>
                  </a:moveTo>
                  <a:lnTo>
                    <a:pt x="5295456" y="0"/>
                  </a:lnTo>
                  <a:lnTo>
                    <a:pt x="5295456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295456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491634" y="3349480"/>
            <a:ext cx="3492790" cy="3492790"/>
          </a:xfrm>
          <a:custGeom>
            <a:avLst/>
            <a:gdLst/>
            <a:ahLst/>
            <a:cxnLst/>
            <a:rect l="l" t="t" r="r" b="b"/>
            <a:pathLst>
              <a:path w="3492790" h="3492790">
                <a:moveTo>
                  <a:pt x="0" y="0"/>
                </a:moveTo>
                <a:lnTo>
                  <a:pt x="3492789" y="0"/>
                </a:lnTo>
                <a:lnTo>
                  <a:pt x="3492789" y="3492790"/>
                </a:lnTo>
                <a:lnTo>
                  <a:pt x="0" y="3492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33475" y="3574193"/>
            <a:ext cx="9724359" cy="291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Conception logicielle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41247" y="1855410"/>
            <a:ext cx="9169398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PROGRAMMATION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310" y="2109759"/>
            <a:ext cx="3532709" cy="63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869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Logiciels de </a:t>
            </a:r>
          </a:p>
        </p:txBody>
      </p:sp>
      <p:sp>
        <p:nvSpPr>
          <p:cNvPr id="5" name="Freeform 5"/>
          <p:cNvSpPr/>
          <p:nvPr/>
        </p:nvSpPr>
        <p:spPr>
          <a:xfrm>
            <a:off x="3348510" y="3382627"/>
            <a:ext cx="4040856" cy="4040856"/>
          </a:xfrm>
          <a:custGeom>
            <a:avLst/>
            <a:gdLst/>
            <a:ahLst/>
            <a:cxnLst/>
            <a:rect l="l" t="t" r="r" b="b"/>
            <a:pathLst>
              <a:path w="4040856" h="4040856">
                <a:moveTo>
                  <a:pt x="0" y="0"/>
                </a:moveTo>
                <a:lnTo>
                  <a:pt x="4040856" y="0"/>
                </a:lnTo>
                <a:lnTo>
                  <a:pt x="4040856" y="4040856"/>
                </a:lnTo>
                <a:lnTo>
                  <a:pt x="0" y="4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74718" y="3383742"/>
            <a:ext cx="4036584" cy="4039740"/>
          </a:xfrm>
          <a:custGeom>
            <a:avLst/>
            <a:gdLst/>
            <a:ahLst/>
            <a:cxnLst/>
            <a:rect l="l" t="t" r="r" b="b"/>
            <a:pathLst>
              <a:path w="4036584" h="4039740">
                <a:moveTo>
                  <a:pt x="0" y="0"/>
                </a:moveTo>
                <a:lnTo>
                  <a:pt x="4036585" y="0"/>
                </a:lnTo>
                <a:lnTo>
                  <a:pt x="4036585" y="4039741"/>
                </a:lnTo>
                <a:lnTo>
                  <a:pt x="0" y="4039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716322" y="75404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CONCEPTION LOGICIELLE</a:t>
            </a:r>
          </a:p>
        </p:txBody>
      </p:sp>
      <p:grpSp>
        <p:nvGrpSpPr>
          <p:cNvPr id="14" name="Group 14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244202" y="7521273"/>
            <a:ext cx="2456453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Arduino IDE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43056" y="7521273"/>
            <a:ext cx="2504300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Langage C++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66672" y="8022923"/>
            <a:ext cx="4404533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20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Langage principal pour ESP32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74718" y="8022923"/>
            <a:ext cx="4999010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20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Environnement de développement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137336" y="4024107"/>
            <a:ext cx="6379339" cy="2606558"/>
          </a:xfrm>
          <a:custGeom>
            <a:avLst/>
            <a:gdLst/>
            <a:ahLst/>
            <a:cxnLst/>
            <a:rect l="l" t="t" r="r" b="b"/>
            <a:pathLst>
              <a:path w="6379339" h="2606558">
                <a:moveTo>
                  <a:pt x="0" y="0"/>
                </a:moveTo>
                <a:lnTo>
                  <a:pt x="6379339" y="0"/>
                </a:lnTo>
                <a:lnTo>
                  <a:pt x="6379339" y="2606558"/>
                </a:lnTo>
                <a:lnTo>
                  <a:pt x="0" y="2606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721449" y="3666546"/>
            <a:ext cx="3530345" cy="3530345"/>
          </a:xfrm>
          <a:custGeom>
            <a:avLst/>
            <a:gdLst/>
            <a:ahLst/>
            <a:cxnLst/>
            <a:rect l="l" t="t" r="r" b="b"/>
            <a:pathLst>
              <a:path w="3530345" h="3530345">
                <a:moveTo>
                  <a:pt x="0" y="0"/>
                </a:moveTo>
                <a:lnTo>
                  <a:pt x="3530345" y="0"/>
                </a:lnTo>
                <a:lnTo>
                  <a:pt x="3530345" y="3530345"/>
                </a:lnTo>
                <a:lnTo>
                  <a:pt x="0" y="3530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494381" y="1855410"/>
            <a:ext cx="6974110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CONCEPTION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1310" y="2109759"/>
            <a:ext cx="3532709" cy="63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869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Logiciels de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16322" y="754049"/>
            <a:ext cx="6250638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CONCEPTION LOGICIELLE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02696" y="7052070"/>
            <a:ext cx="2456453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SolidWorks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80093" y="6858464"/>
            <a:ext cx="1493825" cy="58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9"/>
              </a:lnSpc>
              <a:spcBef>
                <a:spcPct val="0"/>
              </a:spcBef>
            </a:pPr>
            <a:r>
              <a:rPr lang="en-US" sz="3221" b="1">
                <a:solidFill>
                  <a:srgbClr val="2270A8"/>
                </a:solidFill>
                <a:latin typeface="Poppins Bold"/>
                <a:ea typeface="Poppins Bold"/>
                <a:cs typeface="Poppins Bold"/>
                <a:sym typeface="Poppins Bold"/>
              </a:rPr>
              <a:t>KiCad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92683" y="7347922"/>
            <a:ext cx="5160655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20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schémas électroniques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64500" y="7505085"/>
            <a:ext cx="5932844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20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Modélisation de pièces et assemblages 3D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69774">
            <a:off x="4338183" y="4761436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499"/>
                </a:lnTo>
                <a:lnTo>
                  <a:pt x="0" y="157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t="-29195" b="-2919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089785">
            <a:off x="13677092" y="-1500513"/>
            <a:ext cx="5574251" cy="14099397"/>
            <a:chOff x="0" y="0"/>
            <a:chExt cx="1468115" cy="37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269774">
            <a:off x="3582269" y="5072441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500"/>
                </a:lnTo>
                <a:lnTo>
                  <a:pt x="0" y="157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t="-29195" b="-29195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0089785">
            <a:off x="14856292" y="-1500513"/>
            <a:ext cx="5574251" cy="14099397"/>
            <a:chOff x="0" y="0"/>
            <a:chExt cx="1468115" cy="37134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6902959" y="9765059"/>
            <a:ext cx="20106184" cy="624783"/>
            <a:chOff x="0" y="0"/>
            <a:chExt cx="5295456" cy="164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5456" cy="164552"/>
            </a:xfrm>
            <a:custGeom>
              <a:avLst/>
              <a:gdLst/>
              <a:ahLst/>
              <a:cxnLst/>
              <a:rect l="l" t="t" r="r" b="b"/>
              <a:pathLst>
                <a:path w="5295456" h="164552">
                  <a:moveTo>
                    <a:pt x="0" y="0"/>
                  </a:moveTo>
                  <a:lnTo>
                    <a:pt x="5295456" y="0"/>
                  </a:lnTo>
                  <a:lnTo>
                    <a:pt x="5295456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295456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687232"/>
            <a:ext cx="9724359" cy="420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Tests </a:t>
            </a:r>
          </a:p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&amp;</a:t>
            </a:r>
          </a:p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 Résultats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4196008" y="3394353"/>
            <a:ext cx="3447409" cy="3498293"/>
          </a:xfrm>
          <a:custGeom>
            <a:avLst/>
            <a:gdLst/>
            <a:ahLst/>
            <a:cxnLst/>
            <a:rect l="l" t="t" r="r" b="b"/>
            <a:pathLst>
              <a:path w="3447409" h="3498293">
                <a:moveTo>
                  <a:pt x="0" y="0"/>
                </a:moveTo>
                <a:lnTo>
                  <a:pt x="3447409" y="0"/>
                </a:lnTo>
                <a:lnTo>
                  <a:pt x="3447409" y="3498294"/>
                </a:lnTo>
                <a:lnTo>
                  <a:pt x="0" y="3498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17921" y="3463816"/>
            <a:ext cx="6945843" cy="5209382"/>
          </a:xfrm>
          <a:custGeom>
            <a:avLst/>
            <a:gdLst/>
            <a:ahLst/>
            <a:cxnLst/>
            <a:rect l="l" t="t" r="r" b="b"/>
            <a:pathLst>
              <a:path w="6945843" h="5209382">
                <a:moveTo>
                  <a:pt x="0" y="0"/>
                </a:moveTo>
                <a:lnTo>
                  <a:pt x="6945843" y="0"/>
                </a:lnTo>
                <a:lnTo>
                  <a:pt x="6945843" y="5209382"/>
                </a:lnTo>
                <a:lnTo>
                  <a:pt x="0" y="5209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3718" y="1467020"/>
            <a:ext cx="5098439" cy="8195197"/>
          </a:xfrm>
          <a:custGeom>
            <a:avLst/>
            <a:gdLst/>
            <a:ahLst/>
            <a:cxnLst/>
            <a:rect l="l" t="t" r="r" b="b"/>
            <a:pathLst>
              <a:path w="5098439" h="8195197">
                <a:moveTo>
                  <a:pt x="0" y="0"/>
                </a:moveTo>
                <a:lnTo>
                  <a:pt x="5098439" y="0"/>
                </a:lnTo>
                <a:lnTo>
                  <a:pt x="5098439" y="8195197"/>
                </a:lnTo>
                <a:lnTo>
                  <a:pt x="0" y="8195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48" b="-592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48691" y="5564619"/>
            <a:ext cx="2920101" cy="780776"/>
          </a:xfrm>
          <a:custGeom>
            <a:avLst/>
            <a:gdLst/>
            <a:ahLst/>
            <a:cxnLst/>
            <a:rect l="l" t="t" r="r" b="b"/>
            <a:pathLst>
              <a:path w="2920101" h="780776">
                <a:moveTo>
                  <a:pt x="0" y="0"/>
                </a:moveTo>
                <a:lnTo>
                  <a:pt x="2920100" y="0"/>
                </a:lnTo>
                <a:lnTo>
                  <a:pt x="2920100" y="780775"/>
                </a:lnTo>
                <a:lnTo>
                  <a:pt x="0" y="780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69325" y="8803005"/>
            <a:ext cx="5556052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202124"/>
                </a:solidFill>
                <a:latin typeface="TT Fors Bold"/>
                <a:ea typeface="TT Fors Bold"/>
                <a:cs typeface="TT Fors Bold"/>
                <a:sym typeface="TT Fors Bold"/>
              </a:rPr>
              <a:t>prototype final en cours de test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7921" y="1764593"/>
            <a:ext cx="8738109" cy="140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sz="50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CABLAGE </a:t>
            </a:r>
          </a:p>
          <a:p>
            <a:pPr algn="l">
              <a:lnSpc>
                <a:spcPts val="4869"/>
              </a:lnSpc>
            </a:pPr>
            <a:r>
              <a:rPr lang="en-US" sz="50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ET INTERCONNEXIONS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4670" y="5092252"/>
            <a:ext cx="3265823" cy="1057406"/>
          </a:xfrm>
          <a:custGeom>
            <a:avLst/>
            <a:gdLst/>
            <a:ahLst/>
            <a:cxnLst/>
            <a:rect l="l" t="t" r="r" b="b"/>
            <a:pathLst>
              <a:path w="3265823" h="1057406">
                <a:moveTo>
                  <a:pt x="0" y="0"/>
                </a:moveTo>
                <a:lnTo>
                  <a:pt x="3265823" y="0"/>
                </a:lnTo>
                <a:lnTo>
                  <a:pt x="3265823" y="1057406"/>
                </a:lnTo>
                <a:lnTo>
                  <a:pt x="0" y="105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-31687" r="-316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96973" y="8822256"/>
            <a:ext cx="3263521" cy="884363"/>
          </a:xfrm>
          <a:custGeom>
            <a:avLst/>
            <a:gdLst/>
            <a:ahLst/>
            <a:cxnLst/>
            <a:rect l="l" t="t" r="r" b="b"/>
            <a:pathLst>
              <a:path w="3263521" h="884363">
                <a:moveTo>
                  <a:pt x="0" y="0"/>
                </a:moveTo>
                <a:lnTo>
                  <a:pt x="3263520" y="0"/>
                </a:lnTo>
                <a:lnTo>
                  <a:pt x="3263520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-18367" r="-1836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96973" y="4096439"/>
            <a:ext cx="3263521" cy="1700230"/>
            <a:chOff x="0" y="0"/>
            <a:chExt cx="983847" cy="5125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83847" cy="512565"/>
            </a:xfrm>
            <a:custGeom>
              <a:avLst/>
              <a:gdLst/>
              <a:ahLst/>
              <a:cxnLst/>
              <a:rect l="l" t="t" r="r" b="b"/>
              <a:pathLst>
                <a:path w="983847" h="512565">
                  <a:moveTo>
                    <a:pt x="47445" y="0"/>
                  </a:moveTo>
                  <a:lnTo>
                    <a:pt x="936402" y="0"/>
                  </a:lnTo>
                  <a:cubicBezTo>
                    <a:pt x="962605" y="0"/>
                    <a:pt x="983847" y="21242"/>
                    <a:pt x="983847" y="47445"/>
                  </a:cubicBezTo>
                  <a:lnTo>
                    <a:pt x="983847" y="465120"/>
                  </a:lnTo>
                  <a:cubicBezTo>
                    <a:pt x="983847" y="491323"/>
                    <a:pt x="962605" y="512565"/>
                    <a:pt x="936402" y="512565"/>
                  </a:cubicBezTo>
                  <a:lnTo>
                    <a:pt x="47445" y="512565"/>
                  </a:lnTo>
                  <a:cubicBezTo>
                    <a:pt x="21242" y="512565"/>
                    <a:pt x="0" y="491323"/>
                    <a:pt x="0" y="465120"/>
                  </a:cubicBezTo>
                  <a:lnTo>
                    <a:pt x="0" y="47445"/>
                  </a:lnTo>
                  <a:cubicBezTo>
                    <a:pt x="0" y="21242"/>
                    <a:pt x="21242" y="0"/>
                    <a:pt x="474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83847" cy="55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96973" y="7458891"/>
            <a:ext cx="3261220" cy="1946145"/>
            <a:chOff x="0" y="0"/>
            <a:chExt cx="858922" cy="5125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8922" cy="512565"/>
            </a:xfrm>
            <a:custGeom>
              <a:avLst/>
              <a:gdLst/>
              <a:ahLst/>
              <a:cxnLst/>
              <a:rect l="l" t="t" r="r" b="b"/>
              <a:pathLst>
                <a:path w="858922" h="512565">
                  <a:moveTo>
                    <a:pt x="47479" y="0"/>
                  </a:moveTo>
                  <a:lnTo>
                    <a:pt x="811443" y="0"/>
                  </a:lnTo>
                  <a:cubicBezTo>
                    <a:pt x="837665" y="0"/>
                    <a:pt x="858922" y="21257"/>
                    <a:pt x="858922" y="47479"/>
                  </a:cubicBezTo>
                  <a:lnTo>
                    <a:pt x="858922" y="465086"/>
                  </a:lnTo>
                  <a:cubicBezTo>
                    <a:pt x="858922" y="491308"/>
                    <a:pt x="837665" y="512565"/>
                    <a:pt x="811443" y="512565"/>
                  </a:cubicBezTo>
                  <a:lnTo>
                    <a:pt x="47479" y="512565"/>
                  </a:lnTo>
                  <a:cubicBezTo>
                    <a:pt x="21257" y="512565"/>
                    <a:pt x="0" y="491308"/>
                    <a:pt x="0" y="465086"/>
                  </a:cubicBezTo>
                  <a:lnTo>
                    <a:pt x="0" y="47479"/>
                  </a:lnTo>
                  <a:cubicBezTo>
                    <a:pt x="0" y="21257"/>
                    <a:pt x="21257" y="0"/>
                    <a:pt x="474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58922" cy="55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99442" y="3997683"/>
            <a:ext cx="2258583" cy="170441"/>
            <a:chOff x="0" y="0"/>
            <a:chExt cx="680890" cy="51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0890" cy="51383"/>
            </a:xfrm>
            <a:custGeom>
              <a:avLst/>
              <a:gdLst/>
              <a:ahLst/>
              <a:cxnLst/>
              <a:rect l="l" t="t" r="r" b="b"/>
              <a:pathLst>
                <a:path w="680890" h="51383">
                  <a:moveTo>
                    <a:pt x="25691" y="0"/>
                  </a:moveTo>
                  <a:lnTo>
                    <a:pt x="655199" y="0"/>
                  </a:lnTo>
                  <a:cubicBezTo>
                    <a:pt x="669388" y="0"/>
                    <a:pt x="680890" y="11502"/>
                    <a:pt x="680890" y="25691"/>
                  </a:cubicBezTo>
                  <a:lnTo>
                    <a:pt x="680890" y="25691"/>
                  </a:lnTo>
                  <a:cubicBezTo>
                    <a:pt x="680890" y="32505"/>
                    <a:pt x="678184" y="39040"/>
                    <a:pt x="673366" y="43858"/>
                  </a:cubicBezTo>
                  <a:cubicBezTo>
                    <a:pt x="668548" y="48676"/>
                    <a:pt x="662013" y="51383"/>
                    <a:pt x="65519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80890" cy="89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99088" y="7361344"/>
            <a:ext cx="2256990" cy="195093"/>
            <a:chOff x="0" y="0"/>
            <a:chExt cx="594434" cy="513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4434" cy="51383"/>
            </a:xfrm>
            <a:custGeom>
              <a:avLst/>
              <a:gdLst/>
              <a:ahLst/>
              <a:cxnLst/>
              <a:rect l="l" t="t" r="r" b="b"/>
              <a:pathLst>
                <a:path w="594434" h="51383">
                  <a:moveTo>
                    <a:pt x="25691" y="0"/>
                  </a:moveTo>
                  <a:lnTo>
                    <a:pt x="568742" y="0"/>
                  </a:lnTo>
                  <a:cubicBezTo>
                    <a:pt x="582931" y="0"/>
                    <a:pt x="594434" y="11502"/>
                    <a:pt x="594434" y="25691"/>
                  </a:cubicBezTo>
                  <a:lnTo>
                    <a:pt x="594434" y="25691"/>
                  </a:lnTo>
                  <a:cubicBezTo>
                    <a:pt x="594434" y="32505"/>
                    <a:pt x="591727" y="39040"/>
                    <a:pt x="586909" y="43858"/>
                  </a:cubicBezTo>
                  <a:cubicBezTo>
                    <a:pt x="582091" y="48676"/>
                    <a:pt x="575556" y="51383"/>
                    <a:pt x="568742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94434" cy="89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8375" y="3235489"/>
            <a:ext cx="2786145" cy="942440"/>
            <a:chOff x="0" y="0"/>
            <a:chExt cx="733800" cy="2482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3800" cy="248215"/>
            </a:xfrm>
            <a:custGeom>
              <a:avLst/>
              <a:gdLst/>
              <a:ahLst/>
              <a:cxnLst/>
              <a:rect l="l" t="t" r="r" b="b"/>
              <a:pathLst>
                <a:path w="733800" h="248215">
                  <a:moveTo>
                    <a:pt x="50017" y="0"/>
                  </a:moveTo>
                  <a:lnTo>
                    <a:pt x="683783" y="0"/>
                  </a:lnTo>
                  <a:cubicBezTo>
                    <a:pt x="711406" y="0"/>
                    <a:pt x="733800" y="22393"/>
                    <a:pt x="733800" y="50017"/>
                  </a:cubicBezTo>
                  <a:lnTo>
                    <a:pt x="733800" y="198198"/>
                  </a:lnTo>
                  <a:cubicBezTo>
                    <a:pt x="733800" y="211463"/>
                    <a:pt x="728530" y="224185"/>
                    <a:pt x="719150" y="233565"/>
                  </a:cubicBezTo>
                  <a:cubicBezTo>
                    <a:pt x="709770" y="242945"/>
                    <a:pt x="697048" y="248215"/>
                    <a:pt x="683783" y="248215"/>
                  </a:cubicBezTo>
                  <a:lnTo>
                    <a:pt x="50017" y="248215"/>
                  </a:lnTo>
                  <a:cubicBezTo>
                    <a:pt x="36752" y="248215"/>
                    <a:pt x="24030" y="242945"/>
                    <a:pt x="14650" y="233565"/>
                  </a:cubicBezTo>
                  <a:cubicBezTo>
                    <a:pt x="5270" y="224185"/>
                    <a:pt x="0" y="211463"/>
                    <a:pt x="0" y="198198"/>
                  </a:cubicBezTo>
                  <a:lnTo>
                    <a:pt x="0" y="50017"/>
                  </a:lnTo>
                  <a:cubicBezTo>
                    <a:pt x="0" y="36752"/>
                    <a:pt x="5270" y="24030"/>
                    <a:pt x="14650" y="14650"/>
                  </a:cubicBezTo>
                  <a:cubicBezTo>
                    <a:pt x="24030" y="5270"/>
                    <a:pt x="36752" y="0"/>
                    <a:pt x="50017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33800" cy="29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DS3231 RTC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8375" y="4458937"/>
            <a:ext cx="2786145" cy="942440"/>
            <a:chOff x="0" y="0"/>
            <a:chExt cx="733800" cy="2482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3800" cy="248215"/>
            </a:xfrm>
            <a:custGeom>
              <a:avLst/>
              <a:gdLst/>
              <a:ahLst/>
              <a:cxnLst/>
              <a:rect l="l" t="t" r="r" b="b"/>
              <a:pathLst>
                <a:path w="733800" h="248215">
                  <a:moveTo>
                    <a:pt x="50017" y="0"/>
                  </a:moveTo>
                  <a:lnTo>
                    <a:pt x="683783" y="0"/>
                  </a:lnTo>
                  <a:cubicBezTo>
                    <a:pt x="711406" y="0"/>
                    <a:pt x="733800" y="22393"/>
                    <a:pt x="733800" y="50017"/>
                  </a:cubicBezTo>
                  <a:lnTo>
                    <a:pt x="733800" y="198198"/>
                  </a:lnTo>
                  <a:cubicBezTo>
                    <a:pt x="733800" y="211463"/>
                    <a:pt x="728530" y="224185"/>
                    <a:pt x="719150" y="233565"/>
                  </a:cubicBezTo>
                  <a:cubicBezTo>
                    <a:pt x="709770" y="242945"/>
                    <a:pt x="697048" y="248215"/>
                    <a:pt x="683783" y="248215"/>
                  </a:cubicBezTo>
                  <a:lnTo>
                    <a:pt x="50017" y="248215"/>
                  </a:lnTo>
                  <a:cubicBezTo>
                    <a:pt x="36752" y="248215"/>
                    <a:pt x="24030" y="242945"/>
                    <a:pt x="14650" y="233565"/>
                  </a:cubicBezTo>
                  <a:cubicBezTo>
                    <a:pt x="5270" y="224185"/>
                    <a:pt x="0" y="211463"/>
                    <a:pt x="0" y="198198"/>
                  </a:cubicBezTo>
                  <a:lnTo>
                    <a:pt x="0" y="50017"/>
                  </a:lnTo>
                  <a:cubicBezTo>
                    <a:pt x="0" y="36752"/>
                    <a:pt x="5270" y="24030"/>
                    <a:pt x="14650" y="14650"/>
                  </a:cubicBezTo>
                  <a:cubicBezTo>
                    <a:pt x="24030" y="5270"/>
                    <a:pt x="36752" y="0"/>
                    <a:pt x="50017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33800" cy="29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Capteur pluie J5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6074" y="8492473"/>
            <a:ext cx="2786145" cy="942440"/>
            <a:chOff x="0" y="0"/>
            <a:chExt cx="733800" cy="2482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3800" cy="248215"/>
            </a:xfrm>
            <a:custGeom>
              <a:avLst/>
              <a:gdLst/>
              <a:ahLst/>
              <a:cxnLst/>
              <a:rect l="l" t="t" r="r" b="b"/>
              <a:pathLst>
                <a:path w="733800" h="248215">
                  <a:moveTo>
                    <a:pt x="50017" y="0"/>
                  </a:moveTo>
                  <a:lnTo>
                    <a:pt x="683783" y="0"/>
                  </a:lnTo>
                  <a:cubicBezTo>
                    <a:pt x="711406" y="0"/>
                    <a:pt x="733800" y="22393"/>
                    <a:pt x="733800" y="50017"/>
                  </a:cubicBezTo>
                  <a:lnTo>
                    <a:pt x="733800" y="198198"/>
                  </a:lnTo>
                  <a:cubicBezTo>
                    <a:pt x="733800" y="211463"/>
                    <a:pt x="728530" y="224185"/>
                    <a:pt x="719150" y="233565"/>
                  </a:cubicBezTo>
                  <a:cubicBezTo>
                    <a:pt x="709770" y="242945"/>
                    <a:pt x="697048" y="248215"/>
                    <a:pt x="683783" y="248215"/>
                  </a:cubicBezTo>
                  <a:lnTo>
                    <a:pt x="50017" y="248215"/>
                  </a:lnTo>
                  <a:cubicBezTo>
                    <a:pt x="36752" y="248215"/>
                    <a:pt x="24030" y="242945"/>
                    <a:pt x="14650" y="233565"/>
                  </a:cubicBezTo>
                  <a:cubicBezTo>
                    <a:pt x="5270" y="224185"/>
                    <a:pt x="0" y="211463"/>
                    <a:pt x="0" y="198198"/>
                  </a:cubicBezTo>
                  <a:lnTo>
                    <a:pt x="0" y="50017"/>
                  </a:lnTo>
                  <a:cubicBezTo>
                    <a:pt x="0" y="36752"/>
                    <a:pt x="5270" y="24030"/>
                    <a:pt x="14650" y="14650"/>
                  </a:cubicBezTo>
                  <a:cubicBezTo>
                    <a:pt x="24030" y="5270"/>
                    <a:pt x="36752" y="0"/>
                    <a:pt x="50017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33800" cy="29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Fins de course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6074" y="7240547"/>
            <a:ext cx="2786145" cy="942440"/>
            <a:chOff x="0" y="0"/>
            <a:chExt cx="733800" cy="2482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3800" cy="248215"/>
            </a:xfrm>
            <a:custGeom>
              <a:avLst/>
              <a:gdLst/>
              <a:ahLst/>
              <a:cxnLst/>
              <a:rect l="l" t="t" r="r" b="b"/>
              <a:pathLst>
                <a:path w="733800" h="248215">
                  <a:moveTo>
                    <a:pt x="50017" y="0"/>
                  </a:moveTo>
                  <a:lnTo>
                    <a:pt x="683783" y="0"/>
                  </a:lnTo>
                  <a:cubicBezTo>
                    <a:pt x="711406" y="0"/>
                    <a:pt x="733800" y="22393"/>
                    <a:pt x="733800" y="50017"/>
                  </a:cubicBezTo>
                  <a:lnTo>
                    <a:pt x="733800" y="198198"/>
                  </a:lnTo>
                  <a:cubicBezTo>
                    <a:pt x="733800" y="211463"/>
                    <a:pt x="728530" y="224185"/>
                    <a:pt x="719150" y="233565"/>
                  </a:cubicBezTo>
                  <a:cubicBezTo>
                    <a:pt x="709770" y="242945"/>
                    <a:pt x="697048" y="248215"/>
                    <a:pt x="683783" y="248215"/>
                  </a:cubicBezTo>
                  <a:lnTo>
                    <a:pt x="50017" y="248215"/>
                  </a:lnTo>
                  <a:cubicBezTo>
                    <a:pt x="36752" y="248215"/>
                    <a:pt x="24030" y="242945"/>
                    <a:pt x="14650" y="233565"/>
                  </a:cubicBezTo>
                  <a:cubicBezTo>
                    <a:pt x="5270" y="224185"/>
                    <a:pt x="0" y="211463"/>
                    <a:pt x="0" y="198198"/>
                  </a:cubicBezTo>
                  <a:lnTo>
                    <a:pt x="0" y="50017"/>
                  </a:lnTo>
                  <a:cubicBezTo>
                    <a:pt x="0" y="36752"/>
                    <a:pt x="5270" y="24030"/>
                    <a:pt x="14650" y="14650"/>
                  </a:cubicBezTo>
                  <a:cubicBezTo>
                    <a:pt x="24030" y="5270"/>
                    <a:pt x="36752" y="0"/>
                    <a:pt x="50017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733800" cy="29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Encodeur JGB37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054328" y="4041891"/>
            <a:ext cx="2947597" cy="1097280"/>
            <a:chOff x="0" y="0"/>
            <a:chExt cx="776322" cy="28899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76322" cy="288996"/>
            </a:xfrm>
            <a:custGeom>
              <a:avLst/>
              <a:gdLst/>
              <a:ahLst/>
              <a:cxnLst/>
              <a:rect l="l" t="t" r="r" b="b"/>
              <a:pathLst>
                <a:path w="776322" h="288996">
                  <a:moveTo>
                    <a:pt x="47277" y="0"/>
                  </a:moveTo>
                  <a:lnTo>
                    <a:pt x="729045" y="0"/>
                  </a:lnTo>
                  <a:cubicBezTo>
                    <a:pt x="741583" y="0"/>
                    <a:pt x="753608" y="4981"/>
                    <a:pt x="762475" y="13847"/>
                  </a:cubicBezTo>
                  <a:cubicBezTo>
                    <a:pt x="771341" y="22713"/>
                    <a:pt x="776322" y="34739"/>
                    <a:pt x="776322" y="47277"/>
                  </a:cubicBezTo>
                  <a:lnTo>
                    <a:pt x="776322" y="241718"/>
                  </a:lnTo>
                  <a:cubicBezTo>
                    <a:pt x="776322" y="254257"/>
                    <a:pt x="771341" y="266282"/>
                    <a:pt x="762475" y="275148"/>
                  </a:cubicBezTo>
                  <a:cubicBezTo>
                    <a:pt x="753608" y="284015"/>
                    <a:pt x="741583" y="288996"/>
                    <a:pt x="729045" y="288996"/>
                  </a:cubicBezTo>
                  <a:lnTo>
                    <a:pt x="47277" y="288996"/>
                  </a:lnTo>
                  <a:cubicBezTo>
                    <a:pt x="21167" y="288996"/>
                    <a:pt x="0" y="267829"/>
                    <a:pt x="0" y="241718"/>
                  </a:cubicBezTo>
                  <a:lnTo>
                    <a:pt x="0" y="47277"/>
                  </a:lnTo>
                  <a:cubicBezTo>
                    <a:pt x="0" y="34739"/>
                    <a:pt x="4981" y="22713"/>
                    <a:pt x="13847" y="13847"/>
                  </a:cubicBezTo>
                  <a:cubicBezTo>
                    <a:pt x="22713" y="4981"/>
                    <a:pt x="34739" y="0"/>
                    <a:pt x="47277" y="0"/>
                  </a:cubicBez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776322" cy="336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L298N + Moteur DC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054328" y="8069781"/>
            <a:ext cx="2947597" cy="1097280"/>
            <a:chOff x="0" y="0"/>
            <a:chExt cx="776322" cy="2889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76322" cy="288996"/>
            </a:xfrm>
            <a:custGeom>
              <a:avLst/>
              <a:gdLst/>
              <a:ahLst/>
              <a:cxnLst/>
              <a:rect l="l" t="t" r="r" b="b"/>
              <a:pathLst>
                <a:path w="776322" h="288996">
                  <a:moveTo>
                    <a:pt x="47277" y="0"/>
                  </a:moveTo>
                  <a:lnTo>
                    <a:pt x="729045" y="0"/>
                  </a:lnTo>
                  <a:cubicBezTo>
                    <a:pt x="741583" y="0"/>
                    <a:pt x="753608" y="4981"/>
                    <a:pt x="762475" y="13847"/>
                  </a:cubicBezTo>
                  <a:cubicBezTo>
                    <a:pt x="771341" y="22713"/>
                    <a:pt x="776322" y="34739"/>
                    <a:pt x="776322" y="47277"/>
                  </a:cubicBezTo>
                  <a:lnTo>
                    <a:pt x="776322" y="241718"/>
                  </a:lnTo>
                  <a:cubicBezTo>
                    <a:pt x="776322" y="254257"/>
                    <a:pt x="771341" y="266282"/>
                    <a:pt x="762475" y="275148"/>
                  </a:cubicBezTo>
                  <a:cubicBezTo>
                    <a:pt x="753608" y="284015"/>
                    <a:pt x="741583" y="288996"/>
                    <a:pt x="729045" y="288996"/>
                  </a:cubicBezTo>
                  <a:lnTo>
                    <a:pt x="47277" y="288996"/>
                  </a:lnTo>
                  <a:cubicBezTo>
                    <a:pt x="21167" y="288996"/>
                    <a:pt x="0" y="267829"/>
                    <a:pt x="0" y="241718"/>
                  </a:cubicBezTo>
                  <a:lnTo>
                    <a:pt x="0" y="47277"/>
                  </a:lnTo>
                  <a:cubicBezTo>
                    <a:pt x="0" y="34739"/>
                    <a:pt x="4981" y="22713"/>
                    <a:pt x="13847" y="13847"/>
                  </a:cubicBezTo>
                  <a:cubicBezTo>
                    <a:pt x="22713" y="4981"/>
                    <a:pt x="34739" y="0"/>
                    <a:pt x="47277" y="0"/>
                  </a:cubicBez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776322" cy="336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Relais + Pompe 12V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795658" y="4461677"/>
            <a:ext cx="2463848" cy="89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Module d’acquisition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796527" y="7731812"/>
            <a:ext cx="2462111" cy="1352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Module rétroaction &amp; sécurité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288375" y="5621338"/>
            <a:ext cx="2786145" cy="1056640"/>
            <a:chOff x="0" y="0"/>
            <a:chExt cx="733800" cy="2782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3800" cy="278292"/>
            </a:xfrm>
            <a:custGeom>
              <a:avLst/>
              <a:gdLst/>
              <a:ahLst/>
              <a:cxnLst/>
              <a:rect l="l" t="t" r="r" b="b"/>
              <a:pathLst>
                <a:path w="733800" h="278292">
                  <a:moveTo>
                    <a:pt x="50017" y="0"/>
                  </a:moveTo>
                  <a:lnTo>
                    <a:pt x="683783" y="0"/>
                  </a:lnTo>
                  <a:cubicBezTo>
                    <a:pt x="711406" y="0"/>
                    <a:pt x="733800" y="22393"/>
                    <a:pt x="733800" y="50017"/>
                  </a:cubicBezTo>
                  <a:lnTo>
                    <a:pt x="733800" y="228275"/>
                  </a:lnTo>
                  <a:cubicBezTo>
                    <a:pt x="733800" y="241540"/>
                    <a:pt x="728530" y="254262"/>
                    <a:pt x="719150" y="263642"/>
                  </a:cubicBezTo>
                  <a:cubicBezTo>
                    <a:pt x="709770" y="273022"/>
                    <a:pt x="697048" y="278292"/>
                    <a:pt x="683783" y="278292"/>
                  </a:cubicBezTo>
                  <a:lnTo>
                    <a:pt x="50017" y="278292"/>
                  </a:lnTo>
                  <a:cubicBezTo>
                    <a:pt x="36752" y="278292"/>
                    <a:pt x="24030" y="273022"/>
                    <a:pt x="14650" y="263642"/>
                  </a:cubicBezTo>
                  <a:cubicBezTo>
                    <a:pt x="5270" y="254262"/>
                    <a:pt x="0" y="241540"/>
                    <a:pt x="0" y="228275"/>
                  </a:cubicBezTo>
                  <a:lnTo>
                    <a:pt x="0" y="50017"/>
                  </a:lnTo>
                  <a:cubicBezTo>
                    <a:pt x="0" y="36752"/>
                    <a:pt x="5270" y="24030"/>
                    <a:pt x="14650" y="14650"/>
                  </a:cubicBezTo>
                  <a:cubicBezTo>
                    <a:pt x="24030" y="5270"/>
                    <a:pt x="36752" y="0"/>
                    <a:pt x="50017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733800" cy="325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Capteur niveau d’eau J3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7142412" y="6989966"/>
            <a:ext cx="3838982" cy="822803"/>
          </a:xfrm>
          <a:custGeom>
            <a:avLst/>
            <a:gdLst/>
            <a:ahLst/>
            <a:cxnLst/>
            <a:rect l="l" t="t" r="r" b="b"/>
            <a:pathLst>
              <a:path w="3838982" h="822803">
                <a:moveTo>
                  <a:pt x="0" y="0"/>
                </a:moveTo>
                <a:lnTo>
                  <a:pt x="3838981" y="0"/>
                </a:lnTo>
                <a:lnTo>
                  <a:pt x="3838981" y="822804"/>
                </a:lnTo>
                <a:lnTo>
                  <a:pt x="0" y="82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-4073" r="-4073"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7145118" y="5798742"/>
            <a:ext cx="3836275" cy="1810676"/>
            <a:chOff x="0" y="0"/>
            <a:chExt cx="1085970" cy="51256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85970" cy="512565"/>
            </a:xfrm>
            <a:custGeom>
              <a:avLst/>
              <a:gdLst/>
              <a:ahLst/>
              <a:cxnLst/>
              <a:rect l="l" t="t" r="r" b="b"/>
              <a:pathLst>
                <a:path w="1085970" h="512565">
                  <a:moveTo>
                    <a:pt x="40362" y="0"/>
                  </a:moveTo>
                  <a:lnTo>
                    <a:pt x="1045608" y="0"/>
                  </a:lnTo>
                  <a:cubicBezTo>
                    <a:pt x="1067900" y="0"/>
                    <a:pt x="1085970" y="18071"/>
                    <a:pt x="1085970" y="40362"/>
                  </a:cubicBezTo>
                  <a:lnTo>
                    <a:pt x="1085970" y="472203"/>
                  </a:lnTo>
                  <a:cubicBezTo>
                    <a:pt x="1085970" y="494494"/>
                    <a:pt x="1067900" y="512565"/>
                    <a:pt x="1045608" y="512565"/>
                  </a:cubicBezTo>
                  <a:lnTo>
                    <a:pt x="40362" y="512565"/>
                  </a:lnTo>
                  <a:cubicBezTo>
                    <a:pt x="18071" y="512565"/>
                    <a:pt x="0" y="494494"/>
                    <a:pt x="0" y="472203"/>
                  </a:cubicBezTo>
                  <a:lnTo>
                    <a:pt x="0" y="40362"/>
                  </a:lnTo>
                  <a:cubicBezTo>
                    <a:pt x="0" y="18071"/>
                    <a:pt x="18071" y="0"/>
                    <a:pt x="40362" y="0"/>
                  </a:cubicBezTo>
                  <a:close/>
                </a:path>
              </a:pathLst>
            </a:custGeom>
            <a:solidFill>
              <a:srgbClr val="B5CEE6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85970" cy="55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735772" y="5707986"/>
            <a:ext cx="2654968" cy="181513"/>
            <a:chOff x="0" y="0"/>
            <a:chExt cx="751567" cy="5138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51567" cy="51383"/>
            </a:xfrm>
            <a:custGeom>
              <a:avLst/>
              <a:gdLst/>
              <a:ahLst/>
              <a:cxnLst/>
              <a:rect l="l" t="t" r="r" b="b"/>
              <a:pathLst>
                <a:path w="751567" h="51383">
                  <a:moveTo>
                    <a:pt x="25691" y="0"/>
                  </a:moveTo>
                  <a:lnTo>
                    <a:pt x="725875" y="0"/>
                  </a:lnTo>
                  <a:cubicBezTo>
                    <a:pt x="740064" y="0"/>
                    <a:pt x="751567" y="11502"/>
                    <a:pt x="751567" y="25691"/>
                  </a:cubicBezTo>
                  <a:lnTo>
                    <a:pt x="751567" y="25691"/>
                  </a:lnTo>
                  <a:cubicBezTo>
                    <a:pt x="751567" y="32505"/>
                    <a:pt x="748860" y="39040"/>
                    <a:pt x="744042" y="43858"/>
                  </a:cubicBezTo>
                  <a:cubicBezTo>
                    <a:pt x="739224" y="48676"/>
                    <a:pt x="732689" y="51383"/>
                    <a:pt x="725875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3F4D7E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751567" cy="89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7495726" y="6081407"/>
            <a:ext cx="3135059" cy="87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6"/>
              </a:lnSpc>
              <a:spcBef>
                <a:spcPct val="0"/>
              </a:spcBef>
            </a:pPr>
            <a:r>
              <a:rPr lang="en-US" sz="2512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ESP32-WROOM-32E-N8</a:t>
            </a:r>
          </a:p>
        </p:txBody>
      </p:sp>
      <p:sp>
        <p:nvSpPr>
          <p:cNvPr id="47" name="AutoShape 47"/>
          <p:cNvSpPr/>
          <p:nvPr/>
        </p:nvSpPr>
        <p:spPr>
          <a:xfrm>
            <a:off x="6660493" y="4946554"/>
            <a:ext cx="954633" cy="852188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8" name="AutoShape 48"/>
          <p:cNvSpPr/>
          <p:nvPr/>
        </p:nvSpPr>
        <p:spPr>
          <a:xfrm flipV="1">
            <a:off x="6658193" y="7609418"/>
            <a:ext cx="956934" cy="822545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AutoShape 49"/>
          <p:cNvSpPr/>
          <p:nvPr/>
        </p:nvSpPr>
        <p:spPr>
          <a:xfrm flipV="1">
            <a:off x="3074520" y="5796669"/>
            <a:ext cx="1954213" cy="352989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>
            <a:off x="3074520" y="3706709"/>
            <a:ext cx="1954213" cy="290974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>
            <a:off x="3074520" y="4930157"/>
            <a:ext cx="322453" cy="16397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AutoShape 52"/>
          <p:cNvSpPr/>
          <p:nvPr/>
        </p:nvSpPr>
        <p:spPr>
          <a:xfrm flipV="1">
            <a:off x="3072219" y="8794440"/>
            <a:ext cx="324753" cy="169252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AutoShape 53"/>
          <p:cNvSpPr/>
          <p:nvPr/>
        </p:nvSpPr>
        <p:spPr>
          <a:xfrm>
            <a:off x="3072219" y="7711767"/>
            <a:ext cx="324753" cy="297530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TextBox 54"/>
          <p:cNvSpPr txBox="1"/>
          <p:nvPr/>
        </p:nvSpPr>
        <p:spPr>
          <a:xfrm>
            <a:off x="6896074" y="4339071"/>
            <a:ext cx="1679395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Données</a:t>
            </a:r>
          </a:p>
        </p:txBody>
      </p:sp>
      <p:sp>
        <p:nvSpPr>
          <p:cNvPr id="55" name="AutoShape 55"/>
          <p:cNvSpPr/>
          <p:nvPr/>
        </p:nvSpPr>
        <p:spPr>
          <a:xfrm flipH="1">
            <a:off x="16283264" y="5139171"/>
            <a:ext cx="244863" cy="1459055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AutoShape 56"/>
          <p:cNvSpPr/>
          <p:nvPr/>
        </p:nvSpPr>
        <p:spPr>
          <a:xfrm flipH="1" flipV="1">
            <a:off x="16283264" y="6875318"/>
            <a:ext cx="244863" cy="1194463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TextBox 57"/>
          <p:cNvSpPr txBox="1"/>
          <p:nvPr/>
        </p:nvSpPr>
        <p:spPr>
          <a:xfrm>
            <a:off x="6896074" y="8570796"/>
            <a:ext cx="207775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Rétroaction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25486" y="6936653"/>
            <a:ext cx="3072832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Unité de traitement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3019743" y="5707986"/>
            <a:ext cx="3263521" cy="2334665"/>
            <a:chOff x="0" y="0"/>
            <a:chExt cx="4351361" cy="3112887"/>
          </a:xfrm>
        </p:grpSpPr>
        <p:sp>
          <p:nvSpPr>
            <p:cNvPr id="60" name="Freeform 60"/>
            <p:cNvSpPr/>
            <p:nvPr/>
          </p:nvSpPr>
          <p:spPr>
            <a:xfrm>
              <a:off x="0" y="1933737"/>
              <a:ext cx="4351361" cy="1179150"/>
            </a:xfrm>
            <a:custGeom>
              <a:avLst/>
              <a:gdLst/>
              <a:ahLst/>
              <a:cxnLst/>
              <a:rect l="l" t="t" r="r" b="b"/>
              <a:pathLst>
                <a:path w="4351361" h="1179150">
                  <a:moveTo>
                    <a:pt x="0" y="0"/>
                  </a:moveTo>
                  <a:lnTo>
                    <a:pt x="4351361" y="0"/>
                  </a:lnTo>
                  <a:lnTo>
                    <a:pt x="4351361" y="1179150"/>
                  </a:lnTo>
                  <a:lnTo>
                    <a:pt x="0" y="1179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8367" r="-18367"/>
              </a:stretch>
            </a:blipFill>
          </p:spPr>
        </p:sp>
        <p:grpSp>
          <p:nvGrpSpPr>
            <p:cNvPr id="61" name="Group 61"/>
            <p:cNvGrpSpPr/>
            <p:nvPr/>
          </p:nvGrpSpPr>
          <p:grpSpPr>
            <a:xfrm>
              <a:off x="0" y="130062"/>
              <a:ext cx="4348293" cy="2594860"/>
              <a:chOff x="0" y="0"/>
              <a:chExt cx="858922" cy="51256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58922" cy="512565"/>
              </a:xfrm>
              <a:custGeom>
                <a:avLst/>
                <a:gdLst/>
                <a:ahLst/>
                <a:cxnLst/>
                <a:rect l="l" t="t" r="r" b="b"/>
                <a:pathLst>
                  <a:path w="858922" h="512565">
                    <a:moveTo>
                      <a:pt x="47479" y="0"/>
                    </a:moveTo>
                    <a:lnTo>
                      <a:pt x="811443" y="0"/>
                    </a:lnTo>
                    <a:cubicBezTo>
                      <a:pt x="837665" y="0"/>
                      <a:pt x="858922" y="21257"/>
                      <a:pt x="858922" y="47479"/>
                    </a:cubicBezTo>
                    <a:lnTo>
                      <a:pt x="858922" y="465086"/>
                    </a:lnTo>
                    <a:cubicBezTo>
                      <a:pt x="858922" y="491308"/>
                      <a:pt x="837665" y="512565"/>
                      <a:pt x="811443" y="512565"/>
                    </a:cubicBezTo>
                    <a:lnTo>
                      <a:pt x="47479" y="512565"/>
                    </a:lnTo>
                    <a:cubicBezTo>
                      <a:pt x="21257" y="512565"/>
                      <a:pt x="0" y="491308"/>
                      <a:pt x="0" y="465086"/>
                    </a:cubicBezTo>
                    <a:lnTo>
                      <a:pt x="0" y="47479"/>
                    </a:lnTo>
                    <a:cubicBezTo>
                      <a:pt x="0" y="21257"/>
                      <a:pt x="21257" y="0"/>
                      <a:pt x="4747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858922" cy="550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69486" y="0"/>
              <a:ext cx="3009320" cy="260125"/>
              <a:chOff x="0" y="0"/>
              <a:chExt cx="594434" cy="5138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594434" cy="51383"/>
              </a:xfrm>
              <a:custGeom>
                <a:avLst/>
                <a:gdLst/>
                <a:ahLst/>
                <a:cxnLst/>
                <a:rect l="l" t="t" r="r" b="b"/>
                <a:pathLst>
                  <a:path w="594434" h="51383">
                    <a:moveTo>
                      <a:pt x="25691" y="0"/>
                    </a:moveTo>
                    <a:lnTo>
                      <a:pt x="568742" y="0"/>
                    </a:lnTo>
                    <a:cubicBezTo>
                      <a:pt x="582931" y="0"/>
                      <a:pt x="594434" y="11502"/>
                      <a:pt x="594434" y="25691"/>
                    </a:cubicBezTo>
                    <a:lnTo>
                      <a:pt x="594434" y="25691"/>
                    </a:lnTo>
                    <a:cubicBezTo>
                      <a:pt x="594434" y="32505"/>
                      <a:pt x="591727" y="39040"/>
                      <a:pt x="586909" y="43858"/>
                    </a:cubicBezTo>
                    <a:cubicBezTo>
                      <a:pt x="582091" y="48676"/>
                      <a:pt x="575556" y="51383"/>
                      <a:pt x="568742" y="51383"/>
                    </a:cubicBezTo>
                    <a:lnTo>
                      <a:pt x="25691" y="51383"/>
                    </a:lnTo>
                    <a:cubicBezTo>
                      <a:pt x="11502" y="51383"/>
                      <a:pt x="0" y="39880"/>
                      <a:pt x="0" y="25691"/>
                    </a:cubicBezTo>
                    <a:lnTo>
                      <a:pt x="0" y="25691"/>
                    </a:lnTo>
                    <a:cubicBezTo>
                      <a:pt x="0" y="11502"/>
                      <a:pt x="11502" y="0"/>
                      <a:pt x="25691" y="0"/>
                    </a:cubicBezTo>
                    <a:close/>
                  </a:path>
                </a:pathLst>
              </a:custGeom>
              <a:solidFill>
                <a:srgbClr val="F68D56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594434" cy="894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532740" y="790587"/>
              <a:ext cx="3282814" cy="122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Module de puissance</a:t>
              </a:r>
            </a:p>
          </p:txBody>
        </p:sp>
      </p:grpSp>
      <p:sp>
        <p:nvSpPr>
          <p:cNvPr id="68" name="AutoShape 68"/>
          <p:cNvSpPr/>
          <p:nvPr/>
        </p:nvSpPr>
        <p:spPr>
          <a:xfrm>
            <a:off x="10981393" y="6704080"/>
            <a:ext cx="2038350" cy="171238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TextBox 69"/>
          <p:cNvSpPr txBox="1"/>
          <p:nvPr/>
        </p:nvSpPr>
        <p:spPr>
          <a:xfrm>
            <a:off x="10981393" y="6241448"/>
            <a:ext cx="1933575" cy="43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Commandes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1441170" y="2339356"/>
            <a:ext cx="2947597" cy="942440"/>
            <a:chOff x="0" y="0"/>
            <a:chExt cx="776322" cy="24821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76322" cy="248215"/>
            </a:xfrm>
            <a:custGeom>
              <a:avLst/>
              <a:gdLst/>
              <a:ahLst/>
              <a:cxnLst/>
              <a:rect l="l" t="t" r="r" b="b"/>
              <a:pathLst>
                <a:path w="776322" h="248215">
                  <a:moveTo>
                    <a:pt x="47277" y="0"/>
                  </a:moveTo>
                  <a:lnTo>
                    <a:pt x="729045" y="0"/>
                  </a:lnTo>
                  <a:cubicBezTo>
                    <a:pt x="741583" y="0"/>
                    <a:pt x="753608" y="4981"/>
                    <a:pt x="762475" y="13847"/>
                  </a:cubicBezTo>
                  <a:cubicBezTo>
                    <a:pt x="771341" y="22713"/>
                    <a:pt x="776322" y="34739"/>
                    <a:pt x="776322" y="47277"/>
                  </a:cubicBezTo>
                  <a:lnTo>
                    <a:pt x="776322" y="200937"/>
                  </a:lnTo>
                  <a:cubicBezTo>
                    <a:pt x="776322" y="213476"/>
                    <a:pt x="771341" y="225501"/>
                    <a:pt x="762475" y="234367"/>
                  </a:cubicBezTo>
                  <a:cubicBezTo>
                    <a:pt x="753608" y="243234"/>
                    <a:pt x="741583" y="248215"/>
                    <a:pt x="729045" y="248215"/>
                  </a:cubicBezTo>
                  <a:lnTo>
                    <a:pt x="47277" y="248215"/>
                  </a:lnTo>
                  <a:cubicBezTo>
                    <a:pt x="34739" y="248215"/>
                    <a:pt x="22713" y="243234"/>
                    <a:pt x="13847" y="234367"/>
                  </a:cubicBezTo>
                  <a:cubicBezTo>
                    <a:pt x="4981" y="225501"/>
                    <a:pt x="0" y="213476"/>
                    <a:pt x="0" y="200937"/>
                  </a:cubicBezTo>
                  <a:lnTo>
                    <a:pt x="0" y="47277"/>
                  </a:lnTo>
                  <a:cubicBezTo>
                    <a:pt x="0" y="34739"/>
                    <a:pt x="4981" y="22713"/>
                    <a:pt x="13847" y="13847"/>
                  </a:cubicBezTo>
                  <a:cubicBezTo>
                    <a:pt x="22713" y="4981"/>
                    <a:pt x="34739" y="0"/>
                    <a:pt x="47277" y="0"/>
                  </a:cubicBezTo>
                  <a:close/>
                </a:path>
              </a:pathLst>
            </a:custGeom>
            <a:solidFill>
              <a:srgbClr val="FFD18D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776322" cy="29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Source 12V DC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7589457" y="2339356"/>
            <a:ext cx="2947597" cy="942440"/>
            <a:chOff x="0" y="0"/>
            <a:chExt cx="776322" cy="24821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76322" cy="248215"/>
            </a:xfrm>
            <a:custGeom>
              <a:avLst/>
              <a:gdLst/>
              <a:ahLst/>
              <a:cxnLst/>
              <a:rect l="l" t="t" r="r" b="b"/>
              <a:pathLst>
                <a:path w="776322" h="248215">
                  <a:moveTo>
                    <a:pt x="47277" y="0"/>
                  </a:moveTo>
                  <a:lnTo>
                    <a:pt x="729045" y="0"/>
                  </a:lnTo>
                  <a:cubicBezTo>
                    <a:pt x="741583" y="0"/>
                    <a:pt x="753608" y="4981"/>
                    <a:pt x="762475" y="13847"/>
                  </a:cubicBezTo>
                  <a:cubicBezTo>
                    <a:pt x="771341" y="22713"/>
                    <a:pt x="776322" y="34739"/>
                    <a:pt x="776322" y="47277"/>
                  </a:cubicBezTo>
                  <a:lnTo>
                    <a:pt x="776322" y="200937"/>
                  </a:lnTo>
                  <a:cubicBezTo>
                    <a:pt x="776322" y="213476"/>
                    <a:pt x="771341" y="225501"/>
                    <a:pt x="762475" y="234367"/>
                  </a:cubicBezTo>
                  <a:cubicBezTo>
                    <a:pt x="753608" y="243234"/>
                    <a:pt x="741583" y="248215"/>
                    <a:pt x="729045" y="248215"/>
                  </a:cubicBezTo>
                  <a:lnTo>
                    <a:pt x="47277" y="248215"/>
                  </a:lnTo>
                  <a:cubicBezTo>
                    <a:pt x="34739" y="248215"/>
                    <a:pt x="22713" y="243234"/>
                    <a:pt x="13847" y="234367"/>
                  </a:cubicBezTo>
                  <a:cubicBezTo>
                    <a:pt x="4981" y="225501"/>
                    <a:pt x="0" y="213476"/>
                    <a:pt x="0" y="200937"/>
                  </a:cubicBezTo>
                  <a:lnTo>
                    <a:pt x="0" y="47277"/>
                  </a:lnTo>
                  <a:cubicBezTo>
                    <a:pt x="0" y="34739"/>
                    <a:pt x="4981" y="22713"/>
                    <a:pt x="13847" y="13847"/>
                  </a:cubicBezTo>
                  <a:cubicBezTo>
                    <a:pt x="22713" y="4981"/>
                    <a:pt x="34739" y="0"/>
                    <a:pt x="47277" y="0"/>
                  </a:cubicBezTo>
                  <a:close/>
                </a:path>
              </a:pathLst>
            </a:custGeom>
            <a:solidFill>
              <a:srgbClr val="FFD18D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776322" cy="29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LM2596</a:t>
              </a:r>
            </a:p>
          </p:txBody>
        </p:sp>
      </p:grpSp>
      <p:sp>
        <p:nvSpPr>
          <p:cNvPr id="76" name="AutoShape 76"/>
          <p:cNvSpPr/>
          <p:nvPr/>
        </p:nvSpPr>
        <p:spPr>
          <a:xfrm>
            <a:off x="12914968" y="3281796"/>
            <a:ext cx="1736535" cy="2426190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7" name="TextBox 77"/>
          <p:cNvSpPr txBox="1"/>
          <p:nvPr/>
        </p:nvSpPr>
        <p:spPr>
          <a:xfrm>
            <a:off x="13275347" y="3950165"/>
            <a:ext cx="1113420" cy="43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12V</a:t>
            </a:r>
          </a:p>
        </p:txBody>
      </p:sp>
      <p:sp>
        <p:nvSpPr>
          <p:cNvPr id="78" name="AutoShape 78"/>
          <p:cNvSpPr/>
          <p:nvPr/>
        </p:nvSpPr>
        <p:spPr>
          <a:xfrm flipH="1">
            <a:off x="10537054" y="2810576"/>
            <a:ext cx="904115" cy="0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9" name="TextBox 79"/>
          <p:cNvSpPr txBox="1"/>
          <p:nvPr/>
        </p:nvSpPr>
        <p:spPr>
          <a:xfrm>
            <a:off x="10834761" y="2282206"/>
            <a:ext cx="1113420" cy="43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12V</a:t>
            </a:r>
          </a:p>
        </p:txBody>
      </p:sp>
      <p:sp>
        <p:nvSpPr>
          <p:cNvPr id="80" name="AutoShape 80"/>
          <p:cNvSpPr/>
          <p:nvPr/>
        </p:nvSpPr>
        <p:spPr>
          <a:xfrm>
            <a:off x="9063256" y="3281796"/>
            <a:ext cx="0" cy="2426190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1" name="TextBox 81"/>
          <p:cNvSpPr txBox="1"/>
          <p:nvPr/>
        </p:nvSpPr>
        <p:spPr>
          <a:xfrm>
            <a:off x="9221496" y="4329546"/>
            <a:ext cx="1113420" cy="43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3.3V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18039" y="1720693"/>
            <a:ext cx="5738039" cy="87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6"/>
              </a:lnSpc>
            </a:pPr>
            <a:r>
              <a:rPr lang="en-US" sz="548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SCHÈMA BLOC :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grpSp>
        <p:nvGrpSpPr>
          <p:cNvPr id="90" name="Group 90"/>
          <p:cNvGrpSpPr/>
          <p:nvPr/>
        </p:nvGrpSpPr>
        <p:grpSpPr>
          <a:xfrm rot="-10800000">
            <a:off x="0" y="9706619"/>
            <a:ext cx="18455734" cy="630513"/>
            <a:chOff x="0" y="0"/>
            <a:chExt cx="4816593" cy="16455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183615" y="9807697"/>
            <a:ext cx="7613728" cy="63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6033367" y="199629"/>
            <a:ext cx="1325090" cy="6443006"/>
            <a:chOff x="0" y="0"/>
            <a:chExt cx="660400" cy="32110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211073"/>
            </a:xfrm>
            <a:custGeom>
              <a:avLst/>
              <a:gdLst/>
              <a:ahLst/>
              <a:cxnLst/>
              <a:rect l="l" t="t" r="r" b="b"/>
              <a:pathLst>
                <a:path w="660400" h="3211073">
                  <a:moveTo>
                    <a:pt x="220252" y="3192004"/>
                  </a:moveTo>
                  <a:cubicBezTo>
                    <a:pt x="254109" y="3203518"/>
                    <a:pt x="292600" y="3211073"/>
                    <a:pt x="330378" y="3211073"/>
                  </a:cubicBezTo>
                  <a:cubicBezTo>
                    <a:pt x="368157" y="3211073"/>
                    <a:pt x="404509" y="3204596"/>
                    <a:pt x="438009" y="3193082"/>
                  </a:cubicBezTo>
                  <a:cubicBezTo>
                    <a:pt x="438723" y="3192723"/>
                    <a:pt x="439435" y="3192723"/>
                    <a:pt x="440148" y="3192363"/>
                  </a:cubicBezTo>
                  <a:cubicBezTo>
                    <a:pt x="565955" y="3146308"/>
                    <a:pt x="658618" y="3024694"/>
                    <a:pt x="660400" y="282929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827199"/>
                  </a:lnTo>
                  <a:cubicBezTo>
                    <a:pt x="1782" y="3025413"/>
                    <a:pt x="93019" y="3147028"/>
                    <a:pt x="220252" y="3192004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0400" cy="3131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6269290" y="1212596"/>
            <a:ext cx="1325090" cy="7676852"/>
            <a:chOff x="0" y="0"/>
            <a:chExt cx="660400" cy="38259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825999"/>
            </a:xfrm>
            <a:custGeom>
              <a:avLst/>
              <a:gdLst/>
              <a:ahLst/>
              <a:cxnLst/>
              <a:rect l="l" t="t" r="r" b="b"/>
              <a:pathLst>
                <a:path w="660400" h="3825999">
                  <a:moveTo>
                    <a:pt x="220252" y="3806930"/>
                  </a:moveTo>
                  <a:cubicBezTo>
                    <a:pt x="254109" y="3818444"/>
                    <a:pt x="292600" y="3825999"/>
                    <a:pt x="330378" y="3825999"/>
                  </a:cubicBezTo>
                  <a:cubicBezTo>
                    <a:pt x="368157" y="3825999"/>
                    <a:pt x="404509" y="3819522"/>
                    <a:pt x="438009" y="3808008"/>
                  </a:cubicBezTo>
                  <a:cubicBezTo>
                    <a:pt x="438723" y="3807649"/>
                    <a:pt x="439435" y="3807649"/>
                    <a:pt x="440148" y="3807289"/>
                  </a:cubicBezTo>
                  <a:cubicBezTo>
                    <a:pt x="565955" y="3761234"/>
                    <a:pt x="658618" y="3639620"/>
                    <a:pt x="660400" y="343056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428019"/>
                  </a:lnTo>
                  <a:cubicBezTo>
                    <a:pt x="1782" y="3640339"/>
                    <a:pt x="93019" y="3761954"/>
                    <a:pt x="220252" y="380693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60400" cy="3746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6508884" y="2224135"/>
            <a:ext cx="1325090" cy="8913552"/>
            <a:chOff x="0" y="0"/>
            <a:chExt cx="660400" cy="4442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4442347"/>
            </a:xfrm>
            <a:custGeom>
              <a:avLst/>
              <a:gdLst/>
              <a:ahLst/>
              <a:cxnLst/>
              <a:rect l="l" t="t" r="r" b="b"/>
              <a:pathLst>
                <a:path w="660400" h="4442347">
                  <a:moveTo>
                    <a:pt x="220252" y="4423278"/>
                  </a:moveTo>
                  <a:cubicBezTo>
                    <a:pt x="254109" y="4434792"/>
                    <a:pt x="292600" y="4442347"/>
                    <a:pt x="330378" y="4442347"/>
                  </a:cubicBezTo>
                  <a:cubicBezTo>
                    <a:pt x="368157" y="4442347"/>
                    <a:pt x="404509" y="4435870"/>
                    <a:pt x="438009" y="4424356"/>
                  </a:cubicBezTo>
                  <a:cubicBezTo>
                    <a:pt x="438723" y="4423997"/>
                    <a:pt x="439435" y="4423997"/>
                    <a:pt x="440148" y="4423638"/>
                  </a:cubicBezTo>
                  <a:cubicBezTo>
                    <a:pt x="565955" y="4377582"/>
                    <a:pt x="658618" y="4255969"/>
                    <a:pt x="660400" y="403322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030230"/>
                  </a:lnTo>
                  <a:cubicBezTo>
                    <a:pt x="1782" y="4256687"/>
                    <a:pt x="93019" y="4378303"/>
                    <a:pt x="220252" y="4423278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60400" cy="4362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6746234" y="3235675"/>
            <a:ext cx="1325090" cy="10150253"/>
            <a:chOff x="0" y="0"/>
            <a:chExt cx="660400" cy="50586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5058695"/>
            </a:xfrm>
            <a:custGeom>
              <a:avLst/>
              <a:gdLst/>
              <a:ahLst/>
              <a:cxnLst/>
              <a:rect l="l" t="t" r="r" b="b"/>
              <a:pathLst>
                <a:path w="660400" h="5058695">
                  <a:moveTo>
                    <a:pt x="220252" y="5039626"/>
                  </a:moveTo>
                  <a:cubicBezTo>
                    <a:pt x="254109" y="5051141"/>
                    <a:pt x="292600" y="5058695"/>
                    <a:pt x="330378" y="5058695"/>
                  </a:cubicBezTo>
                  <a:cubicBezTo>
                    <a:pt x="368157" y="5058695"/>
                    <a:pt x="404509" y="5052219"/>
                    <a:pt x="438009" y="5040705"/>
                  </a:cubicBezTo>
                  <a:cubicBezTo>
                    <a:pt x="438723" y="5040345"/>
                    <a:pt x="439435" y="5040345"/>
                    <a:pt x="440148" y="5039986"/>
                  </a:cubicBezTo>
                  <a:cubicBezTo>
                    <a:pt x="565955" y="4993931"/>
                    <a:pt x="658618" y="4872317"/>
                    <a:pt x="660400" y="463588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632440"/>
                  </a:lnTo>
                  <a:cubicBezTo>
                    <a:pt x="1782" y="4873036"/>
                    <a:pt x="93019" y="4994651"/>
                    <a:pt x="220252" y="5039626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" cy="497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4540250">
            <a:off x="646192" y="6243183"/>
            <a:ext cx="10289161" cy="1308999"/>
          </a:xfrm>
          <a:custGeom>
            <a:avLst/>
            <a:gdLst/>
            <a:ahLst/>
            <a:cxnLst/>
            <a:rect l="l" t="t" r="r" b="b"/>
            <a:pathLst>
              <a:path w="10289161" h="1308999">
                <a:moveTo>
                  <a:pt x="0" y="0"/>
                </a:moveTo>
                <a:lnTo>
                  <a:pt x="10289161" y="0"/>
                </a:lnTo>
                <a:lnTo>
                  <a:pt x="10289161" y="1308999"/>
                </a:lnTo>
                <a:lnTo>
                  <a:pt x="0" y="130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03" t="-1206" r="-6203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3060418" y="2129290"/>
            <a:ext cx="10084020" cy="10089649"/>
            <a:chOff x="0" y="0"/>
            <a:chExt cx="812800" cy="8132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3254"/>
            </a:xfrm>
            <a:custGeom>
              <a:avLst/>
              <a:gdLst/>
              <a:ahLst/>
              <a:cxnLst/>
              <a:rect l="l" t="t" r="r" b="b"/>
              <a:pathLst>
                <a:path w="812800" h="813254">
                  <a:moveTo>
                    <a:pt x="203200" y="0"/>
                  </a:moveTo>
                  <a:lnTo>
                    <a:pt x="812800" y="0"/>
                  </a:lnTo>
                  <a:lnTo>
                    <a:pt x="609600" y="813254"/>
                  </a:lnTo>
                  <a:lnTo>
                    <a:pt x="0" y="81325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47625"/>
              <a:ext cx="609600" cy="860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9466511" y="4492526"/>
            <a:ext cx="719063" cy="1116991"/>
          </a:xfrm>
          <a:custGeom>
            <a:avLst/>
            <a:gdLst/>
            <a:ahLst/>
            <a:cxnLst/>
            <a:rect l="l" t="t" r="r" b="b"/>
            <a:pathLst>
              <a:path w="719063" h="1116991">
                <a:moveTo>
                  <a:pt x="0" y="0"/>
                </a:moveTo>
                <a:lnTo>
                  <a:pt x="719064" y="0"/>
                </a:lnTo>
                <a:lnTo>
                  <a:pt x="719064" y="1116991"/>
                </a:lnTo>
                <a:lnTo>
                  <a:pt x="0" y="1116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17415" y="6165355"/>
            <a:ext cx="1126899" cy="1031113"/>
          </a:xfrm>
          <a:custGeom>
            <a:avLst/>
            <a:gdLst/>
            <a:ahLst/>
            <a:cxnLst/>
            <a:rect l="l" t="t" r="r" b="b"/>
            <a:pathLst>
              <a:path w="1126899" h="1031113">
                <a:moveTo>
                  <a:pt x="0" y="0"/>
                </a:moveTo>
                <a:lnTo>
                  <a:pt x="1126899" y="0"/>
                </a:lnTo>
                <a:lnTo>
                  <a:pt x="1126899" y="1031113"/>
                </a:lnTo>
                <a:lnTo>
                  <a:pt x="0" y="10311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931251" y="7789357"/>
            <a:ext cx="1067350" cy="1042890"/>
          </a:xfrm>
          <a:custGeom>
            <a:avLst/>
            <a:gdLst/>
            <a:ahLst/>
            <a:cxnLst/>
            <a:rect l="l" t="t" r="r" b="b"/>
            <a:pathLst>
              <a:path w="1067350" h="1042890">
                <a:moveTo>
                  <a:pt x="0" y="0"/>
                </a:moveTo>
                <a:lnTo>
                  <a:pt x="1067350" y="0"/>
                </a:lnTo>
                <a:lnTo>
                  <a:pt x="1067350" y="1042890"/>
                </a:lnTo>
                <a:lnTo>
                  <a:pt x="0" y="104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664071" y="3000444"/>
            <a:ext cx="893798" cy="893798"/>
          </a:xfrm>
          <a:custGeom>
            <a:avLst/>
            <a:gdLst/>
            <a:ahLst/>
            <a:cxnLst/>
            <a:rect l="l" t="t" r="r" b="b"/>
            <a:pathLst>
              <a:path w="893798" h="893798">
                <a:moveTo>
                  <a:pt x="0" y="0"/>
                </a:moveTo>
                <a:lnTo>
                  <a:pt x="893798" y="0"/>
                </a:lnTo>
                <a:lnTo>
                  <a:pt x="893798" y="893798"/>
                </a:lnTo>
                <a:lnTo>
                  <a:pt x="0" y="893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023601" y="3045211"/>
            <a:ext cx="86492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23601" y="4630188"/>
            <a:ext cx="86492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23601" y="6331344"/>
            <a:ext cx="86492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23601" y="7883447"/>
            <a:ext cx="86492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1223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33413" y="3347154"/>
            <a:ext cx="5173750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déclenchement à une heure donnée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33413" y="2748984"/>
            <a:ext cx="433839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Condition temporelle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81508" y="4977044"/>
            <a:ext cx="4041394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ADC</a:t>
            </a:r>
            <a:r>
              <a:rPr lang="en-US" sz="2499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&gt; seuil ⇒ eau suffisante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81508" y="4378874"/>
            <a:ext cx="40413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Condition hydraulique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139453" y="6606934"/>
            <a:ext cx="4041394" cy="86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Pluie</a:t>
            </a:r>
            <a:r>
              <a:rPr lang="en-US" sz="2499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détectée ⇒ nettoyage annulé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39453" y="6008764"/>
            <a:ext cx="453809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Condition météorologique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95153" y="8236824"/>
            <a:ext cx="4264147" cy="86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un s</a:t>
            </a:r>
            <a:r>
              <a:rPr lang="en-US" sz="2499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eul cycle par minute (dejaExecute)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995153" y="7638654"/>
            <a:ext cx="40413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112F8D"/>
                </a:solidFill>
                <a:latin typeface="TT Hoves Bold"/>
                <a:ea typeface="TT Hoves Bold"/>
                <a:cs typeface="TT Hoves Bold"/>
                <a:sym typeface="TT Hoves Bold"/>
              </a:rPr>
              <a:t>Anti-redondance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227" y="1632863"/>
            <a:ext cx="8762285" cy="7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sz="50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ALGORITHME DE DÉCISION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004946" y="3428599"/>
            <a:ext cx="3679155" cy="2202875"/>
            <a:chOff x="0" y="0"/>
            <a:chExt cx="1357506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7506" cy="812800"/>
            </a:xfrm>
            <a:custGeom>
              <a:avLst/>
              <a:gdLst/>
              <a:ahLst/>
              <a:cxnLst/>
              <a:rect l="l" t="t" r="r" b="b"/>
              <a:pathLst>
                <a:path w="1357506" h="812800">
                  <a:moveTo>
                    <a:pt x="678753" y="0"/>
                  </a:moveTo>
                  <a:cubicBezTo>
                    <a:pt x="303888" y="0"/>
                    <a:pt x="0" y="181951"/>
                    <a:pt x="0" y="406400"/>
                  </a:cubicBezTo>
                  <a:cubicBezTo>
                    <a:pt x="0" y="630849"/>
                    <a:pt x="303888" y="812800"/>
                    <a:pt x="678753" y="812800"/>
                  </a:cubicBezTo>
                  <a:cubicBezTo>
                    <a:pt x="1053618" y="812800"/>
                    <a:pt x="1357506" y="630849"/>
                    <a:pt x="1357506" y="406400"/>
                  </a:cubicBezTo>
                  <a:cubicBezTo>
                    <a:pt x="1357506" y="181951"/>
                    <a:pt x="1053618" y="0"/>
                    <a:pt x="678753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266" y="38100"/>
              <a:ext cx="1102974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57337" y="3816381"/>
            <a:ext cx="2374374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MONTEE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4274" y="4625287"/>
            <a:ext cx="2860499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motorAvant(150)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1004946" y="4530037"/>
            <a:ext cx="3679155" cy="0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414274" y="2839955"/>
            <a:ext cx="28604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Etat 0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696452" y="1872353"/>
            <a:ext cx="4897672" cy="2637850"/>
            <a:chOff x="0" y="0"/>
            <a:chExt cx="1807105" cy="9732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07105" cy="973293"/>
            </a:xfrm>
            <a:custGeom>
              <a:avLst/>
              <a:gdLst/>
              <a:ahLst/>
              <a:cxnLst/>
              <a:rect l="l" t="t" r="r" b="b"/>
              <a:pathLst>
                <a:path w="1807105" h="973293">
                  <a:moveTo>
                    <a:pt x="903553" y="0"/>
                  </a:moveTo>
                  <a:cubicBezTo>
                    <a:pt x="404534" y="0"/>
                    <a:pt x="0" y="217879"/>
                    <a:pt x="0" y="486647"/>
                  </a:cubicBezTo>
                  <a:cubicBezTo>
                    <a:pt x="0" y="755414"/>
                    <a:pt x="404534" y="973293"/>
                    <a:pt x="903553" y="973293"/>
                  </a:cubicBezTo>
                  <a:cubicBezTo>
                    <a:pt x="1402571" y="973293"/>
                    <a:pt x="1807105" y="755414"/>
                    <a:pt x="1807105" y="486647"/>
                  </a:cubicBezTo>
                  <a:cubicBezTo>
                    <a:pt x="1807105" y="217879"/>
                    <a:pt x="1402571" y="0"/>
                    <a:pt x="903553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69416" y="53146"/>
              <a:ext cx="1468273" cy="82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196528" y="2582995"/>
            <a:ext cx="389751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Attente FDC haut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15039" y="3486151"/>
            <a:ext cx="2860499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motorAvant(150)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696452" y="3191278"/>
            <a:ext cx="4897672" cy="0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7715039" y="1282438"/>
            <a:ext cx="28604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Etat 1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4292383" y="2759403"/>
            <a:ext cx="2538367" cy="1091108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8" name="Group 28"/>
          <p:cNvGrpSpPr/>
          <p:nvPr/>
        </p:nvGrpSpPr>
        <p:grpSpPr>
          <a:xfrm>
            <a:off x="13603899" y="3428497"/>
            <a:ext cx="3679155" cy="2202875"/>
            <a:chOff x="0" y="0"/>
            <a:chExt cx="1357506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57506" cy="812800"/>
            </a:xfrm>
            <a:custGeom>
              <a:avLst/>
              <a:gdLst/>
              <a:ahLst/>
              <a:cxnLst/>
              <a:rect l="l" t="t" r="r" b="b"/>
              <a:pathLst>
                <a:path w="1357506" h="812800">
                  <a:moveTo>
                    <a:pt x="678753" y="0"/>
                  </a:moveTo>
                  <a:cubicBezTo>
                    <a:pt x="303888" y="0"/>
                    <a:pt x="0" y="181951"/>
                    <a:pt x="0" y="406400"/>
                  </a:cubicBezTo>
                  <a:cubicBezTo>
                    <a:pt x="0" y="630849"/>
                    <a:pt x="303888" y="812800"/>
                    <a:pt x="678753" y="812800"/>
                  </a:cubicBezTo>
                  <a:cubicBezTo>
                    <a:pt x="1053618" y="812800"/>
                    <a:pt x="1357506" y="630849"/>
                    <a:pt x="1357506" y="406400"/>
                  </a:cubicBezTo>
                  <a:cubicBezTo>
                    <a:pt x="1357506" y="181951"/>
                    <a:pt x="1053618" y="0"/>
                    <a:pt x="678753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27266" y="38100"/>
              <a:ext cx="1102974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256290" y="3816279"/>
            <a:ext cx="2374374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DESCENTE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13227" y="4625185"/>
            <a:ext cx="2860499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motorArrière(150)</a:t>
            </a:r>
          </a:p>
        </p:txBody>
      </p:sp>
      <p:sp>
        <p:nvSpPr>
          <p:cNvPr id="33" name="AutoShape 33"/>
          <p:cNvSpPr/>
          <p:nvPr/>
        </p:nvSpPr>
        <p:spPr>
          <a:xfrm>
            <a:off x="13603899" y="4529935"/>
            <a:ext cx="3679155" cy="0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34"/>
          <p:cNvSpPr txBox="1"/>
          <p:nvPr/>
        </p:nvSpPr>
        <p:spPr>
          <a:xfrm>
            <a:off x="14013227" y="2839853"/>
            <a:ext cx="28604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Etat 2</a:t>
            </a:r>
          </a:p>
        </p:txBody>
      </p:sp>
      <p:sp>
        <p:nvSpPr>
          <p:cNvPr id="35" name="AutoShape 35"/>
          <p:cNvSpPr/>
          <p:nvPr/>
        </p:nvSpPr>
        <p:spPr>
          <a:xfrm>
            <a:off x="11516665" y="2860898"/>
            <a:ext cx="2507085" cy="968579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6" name="Group 36"/>
          <p:cNvGrpSpPr/>
          <p:nvPr/>
        </p:nvGrpSpPr>
        <p:grpSpPr>
          <a:xfrm>
            <a:off x="6696452" y="5833542"/>
            <a:ext cx="4897672" cy="2637850"/>
            <a:chOff x="0" y="0"/>
            <a:chExt cx="1807105" cy="97329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07105" cy="973293"/>
            </a:xfrm>
            <a:custGeom>
              <a:avLst/>
              <a:gdLst/>
              <a:ahLst/>
              <a:cxnLst/>
              <a:rect l="l" t="t" r="r" b="b"/>
              <a:pathLst>
                <a:path w="1807105" h="973293">
                  <a:moveTo>
                    <a:pt x="903553" y="0"/>
                  </a:moveTo>
                  <a:cubicBezTo>
                    <a:pt x="404534" y="0"/>
                    <a:pt x="0" y="217879"/>
                    <a:pt x="0" y="486647"/>
                  </a:cubicBezTo>
                  <a:cubicBezTo>
                    <a:pt x="0" y="755414"/>
                    <a:pt x="404534" y="973293"/>
                    <a:pt x="903553" y="973293"/>
                  </a:cubicBezTo>
                  <a:cubicBezTo>
                    <a:pt x="1402571" y="973293"/>
                    <a:pt x="1807105" y="755414"/>
                    <a:pt x="1807105" y="486647"/>
                  </a:cubicBezTo>
                  <a:cubicBezTo>
                    <a:pt x="1807105" y="217879"/>
                    <a:pt x="1402571" y="0"/>
                    <a:pt x="903553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69416" y="53146"/>
              <a:ext cx="1468273" cy="82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196528" y="6544185"/>
            <a:ext cx="389751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Fin de cycle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15039" y="7447341"/>
            <a:ext cx="2860499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motorStop()</a:t>
            </a:r>
          </a:p>
        </p:txBody>
      </p:sp>
      <p:sp>
        <p:nvSpPr>
          <p:cNvPr id="41" name="AutoShape 41"/>
          <p:cNvSpPr/>
          <p:nvPr/>
        </p:nvSpPr>
        <p:spPr>
          <a:xfrm>
            <a:off x="6696452" y="7152467"/>
            <a:ext cx="4897672" cy="0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TextBox 42"/>
          <p:cNvSpPr txBox="1"/>
          <p:nvPr/>
        </p:nvSpPr>
        <p:spPr>
          <a:xfrm>
            <a:off x="7715039" y="5243628"/>
            <a:ext cx="28604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Etat 3</a:t>
            </a:r>
          </a:p>
        </p:txBody>
      </p:sp>
      <p:sp>
        <p:nvSpPr>
          <p:cNvPr id="43" name="AutoShape 43"/>
          <p:cNvSpPr/>
          <p:nvPr/>
        </p:nvSpPr>
        <p:spPr>
          <a:xfrm flipH="1">
            <a:off x="11594124" y="5177652"/>
            <a:ext cx="2361318" cy="1974815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4" name="AutoShape 44"/>
          <p:cNvSpPr/>
          <p:nvPr/>
        </p:nvSpPr>
        <p:spPr>
          <a:xfrm flipH="1" flipV="1">
            <a:off x="4151690" y="5305028"/>
            <a:ext cx="2544763" cy="1847440"/>
          </a:xfrm>
          <a:prstGeom prst="line">
            <a:avLst/>
          </a:prstGeom>
          <a:ln w="38100" cap="flat">
            <a:solidFill>
              <a:srgbClr val="12235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5" name="TextBox 45"/>
          <p:cNvSpPr txBox="1"/>
          <p:nvPr/>
        </p:nvSpPr>
        <p:spPr>
          <a:xfrm>
            <a:off x="3470175" y="2156061"/>
            <a:ext cx="3360575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FDC_Haut = ‘ HIGH ’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594124" y="2118492"/>
            <a:ext cx="3118262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FDC_Haut = ‘ LOW ’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591710" y="6983923"/>
            <a:ext cx="3329159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FDC_Haut = ‘ HIGH ’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82535" y="6662882"/>
            <a:ext cx="3178774" cy="93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223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 le nombre de cycle &lt; 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33583" y="8694952"/>
            <a:ext cx="15625717" cy="71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sz="45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MACHINE À ÉTATS DE LA SÉQUENCE DE NETTOYAGE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36954" y="2513850"/>
            <a:ext cx="2639772" cy="212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2"/>
              </a:lnSpc>
            </a:pPr>
            <a:r>
              <a:rPr lang="en-US" sz="12358" b="1" spc="-333">
                <a:solidFill>
                  <a:srgbClr val="122359">
                    <a:alpha val="14902"/>
                  </a:srgbClr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id="12" name="Freeform 12"/>
          <p:cNvSpPr/>
          <p:nvPr/>
        </p:nvSpPr>
        <p:spPr>
          <a:xfrm>
            <a:off x="2817468" y="4020981"/>
            <a:ext cx="3189091" cy="2853679"/>
          </a:xfrm>
          <a:custGeom>
            <a:avLst/>
            <a:gdLst/>
            <a:ahLst/>
            <a:cxnLst/>
            <a:rect l="l" t="t" r="r" b="b"/>
            <a:pathLst>
              <a:path w="3189091" h="2853679">
                <a:moveTo>
                  <a:pt x="0" y="0"/>
                </a:moveTo>
                <a:lnTo>
                  <a:pt x="3189091" y="0"/>
                </a:lnTo>
                <a:lnTo>
                  <a:pt x="3189091" y="2853679"/>
                </a:lnTo>
                <a:lnTo>
                  <a:pt x="0" y="2853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b="-11613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936954" y="4641516"/>
            <a:ext cx="3859222" cy="1924850"/>
            <a:chOff x="0" y="0"/>
            <a:chExt cx="660400" cy="3293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" cy="329385"/>
            </a:xfrm>
            <a:custGeom>
              <a:avLst/>
              <a:gdLst/>
              <a:ahLst/>
              <a:cxnLst/>
              <a:rect l="l" t="t" r="r" b="b"/>
              <a:pathLst>
                <a:path w="660400" h="329385">
                  <a:moveTo>
                    <a:pt x="220252" y="310316"/>
                  </a:moveTo>
                  <a:cubicBezTo>
                    <a:pt x="254109" y="321830"/>
                    <a:pt x="292600" y="329385"/>
                    <a:pt x="330378" y="329385"/>
                  </a:cubicBezTo>
                  <a:cubicBezTo>
                    <a:pt x="368157" y="329385"/>
                    <a:pt x="404509" y="322908"/>
                    <a:pt x="438009" y="311394"/>
                  </a:cubicBezTo>
                  <a:cubicBezTo>
                    <a:pt x="438723" y="311035"/>
                    <a:pt x="439435" y="311035"/>
                    <a:pt x="440148" y="310676"/>
                  </a:cubicBezTo>
                  <a:cubicBezTo>
                    <a:pt x="565955" y="264620"/>
                    <a:pt x="658618" y="143006"/>
                    <a:pt x="660400" y="1162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613"/>
                  </a:lnTo>
                  <a:cubicBezTo>
                    <a:pt x="1782" y="143725"/>
                    <a:pt x="93019" y="265340"/>
                    <a:pt x="220252" y="3103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660400" cy="23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06453" y="3385340"/>
            <a:ext cx="2850570" cy="285057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42432" y="4918846"/>
            <a:ext cx="2844147" cy="228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41"/>
              </a:lnSpc>
            </a:pPr>
            <a:r>
              <a:rPr lang="en-US" sz="13315" b="1" spc="-359">
                <a:solidFill>
                  <a:srgbClr val="112F8D">
                    <a:alpha val="14902"/>
                  </a:srgbClr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 rot="-10800000">
            <a:off x="11342432" y="2761500"/>
            <a:ext cx="4158008" cy="2073874"/>
            <a:chOff x="0" y="0"/>
            <a:chExt cx="660400" cy="3293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" cy="329385"/>
            </a:xfrm>
            <a:custGeom>
              <a:avLst/>
              <a:gdLst/>
              <a:ahLst/>
              <a:cxnLst/>
              <a:rect l="l" t="t" r="r" b="b"/>
              <a:pathLst>
                <a:path w="660400" h="329385">
                  <a:moveTo>
                    <a:pt x="220252" y="310316"/>
                  </a:moveTo>
                  <a:cubicBezTo>
                    <a:pt x="254109" y="321830"/>
                    <a:pt x="292600" y="329385"/>
                    <a:pt x="330378" y="329385"/>
                  </a:cubicBezTo>
                  <a:cubicBezTo>
                    <a:pt x="368157" y="329385"/>
                    <a:pt x="404509" y="322908"/>
                    <a:pt x="438009" y="311394"/>
                  </a:cubicBezTo>
                  <a:cubicBezTo>
                    <a:pt x="438723" y="311035"/>
                    <a:pt x="439435" y="311035"/>
                    <a:pt x="440148" y="310676"/>
                  </a:cubicBezTo>
                  <a:cubicBezTo>
                    <a:pt x="565955" y="264620"/>
                    <a:pt x="658618" y="143006"/>
                    <a:pt x="660400" y="1162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613"/>
                  </a:lnTo>
                  <a:cubicBezTo>
                    <a:pt x="1782" y="143725"/>
                    <a:pt x="93019" y="265340"/>
                    <a:pt x="220252" y="3103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660400" cy="23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246810" y="3505725"/>
            <a:ext cx="3435996" cy="3334347"/>
          </a:xfrm>
          <a:custGeom>
            <a:avLst/>
            <a:gdLst/>
            <a:ahLst/>
            <a:cxnLst/>
            <a:rect l="l" t="t" r="r" b="b"/>
            <a:pathLst>
              <a:path w="3435996" h="3334347">
                <a:moveTo>
                  <a:pt x="0" y="0"/>
                </a:moveTo>
                <a:lnTo>
                  <a:pt x="3435995" y="0"/>
                </a:lnTo>
                <a:lnTo>
                  <a:pt x="3435995" y="3334347"/>
                </a:lnTo>
                <a:lnTo>
                  <a:pt x="0" y="33343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b="-2919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-10800000">
            <a:off x="12429175" y="3117540"/>
            <a:ext cx="3071265" cy="307126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4501066" y="3907873"/>
            <a:ext cx="1861344" cy="1805504"/>
          </a:xfrm>
          <a:custGeom>
            <a:avLst/>
            <a:gdLst/>
            <a:ahLst/>
            <a:cxnLst/>
            <a:rect l="l" t="t" r="r" b="b"/>
            <a:pathLst>
              <a:path w="1861344" h="1805504">
                <a:moveTo>
                  <a:pt x="0" y="0"/>
                </a:moveTo>
                <a:lnTo>
                  <a:pt x="1861344" y="0"/>
                </a:lnTo>
                <a:lnTo>
                  <a:pt x="1861344" y="1805503"/>
                </a:lnTo>
                <a:lnTo>
                  <a:pt x="0" y="1805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106300" y="3541459"/>
            <a:ext cx="1717016" cy="2062481"/>
          </a:xfrm>
          <a:custGeom>
            <a:avLst/>
            <a:gdLst/>
            <a:ahLst/>
            <a:cxnLst/>
            <a:rect l="l" t="t" r="r" b="b"/>
            <a:pathLst>
              <a:path w="1717016" h="2062481">
                <a:moveTo>
                  <a:pt x="0" y="0"/>
                </a:moveTo>
                <a:lnTo>
                  <a:pt x="1717015" y="0"/>
                </a:lnTo>
                <a:lnTo>
                  <a:pt x="1717015" y="2062482"/>
                </a:lnTo>
                <a:lnTo>
                  <a:pt x="0" y="2062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05535" y="1626050"/>
            <a:ext cx="10142382" cy="81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5"/>
              </a:lnSpc>
            </a:pPr>
            <a:r>
              <a:rPr lang="en-US" sz="5088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MÉCANISMES DE SÉCURITÉ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13697" y="6595800"/>
            <a:ext cx="3982478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Détecrion d’obstacle par l’encodeur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28419" y="6807985"/>
            <a:ext cx="3982478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Watchdog (15 s)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64901" y="7797855"/>
            <a:ext cx="6003327" cy="123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pas d’impulsions (3 s) </a:t>
            </a:r>
          </a:p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⇒ arrêt moteur + pompe + redémarrage ESP32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19772" y="7371865"/>
            <a:ext cx="6003327" cy="81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redémarrage automatique en cas de blocage du système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23672" y="2998711"/>
            <a:ext cx="4024869" cy="5474939"/>
          </a:xfrm>
          <a:custGeom>
            <a:avLst/>
            <a:gdLst/>
            <a:ahLst/>
            <a:cxnLst/>
            <a:rect l="l" t="t" r="r" b="b"/>
            <a:pathLst>
              <a:path w="4024869" h="5474939">
                <a:moveTo>
                  <a:pt x="0" y="0"/>
                </a:moveTo>
                <a:lnTo>
                  <a:pt x="4024868" y="0"/>
                </a:lnTo>
                <a:lnTo>
                  <a:pt x="4024868" y="5474940"/>
                </a:lnTo>
                <a:lnTo>
                  <a:pt x="0" y="547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590" b="-2879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1178" y="2998711"/>
            <a:ext cx="4163264" cy="5474939"/>
          </a:xfrm>
          <a:custGeom>
            <a:avLst/>
            <a:gdLst/>
            <a:ahLst/>
            <a:cxnLst/>
            <a:rect l="l" t="t" r="r" b="b"/>
            <a:pathLst>
              <a:path w="4163264" h="5474939">
                <a:moveTo>
                  <a:pt x="0" y="0"/>
                </a:moveTo>
                <a:lnTo>
                  <a:pt x="4163265" y="0"/>
                </a:lnTo>
                <a:lnTo>
                  <a:pt x="4163265" y="5474940"/>
                </a:lnTo>
                <a:lnTo>
                  <a:pt x="0" y="5474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3528" b="-31164"/>
            </a:stretch>
          </a:blipFill>
        </p:spPr>
      </p: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11888" r="14376"/>
          <a:stretch>
            <a:fillRect/>
          </a:stretch>
        </p:blipFill>
        <p:spPr>
          <a:xfrm>
            <a:off x="10575917" y="2998711"/>
            <a:ext cx="6961587" cy="5265388"/>
          </a:xfrm>
          <a:prstGeom prst="rect">
            <a:avLst/>
          </a:prstGeom>
          <a:ln w="38100" cap="sq">
            <a:solidFill>
              <a:srgbClr val="58AEFF"/>
            </a:solidFill>
            <a:prstDash val="solid"/>
          </a:ln>
        </p:spPr>
      </p:pic>
      <p:sp>
        <p:nvSpPr>
          <p:cNvPr id="14" name="TextBox 14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6340" y="8524077"/>
            <a:ext cx="3532942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202124"/>
                </a:solidFill>
                <a:latin typeface="TT Fors"/>
                <a:ea typeface="TT Fors"/>
                <a:cs typeface="TT Fors"/>
                <a:sym typeface="TT Fors"/>
              </a:rPr>
              <a:t>test unitaire électrique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20476" y="8524077"/>
            <a:ext cx="294655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202124"/>
                </a:solidFill>
                <a:latin typeface="TT Fors"/>
                <a:ea typeface="TT Fors"/>
                <a:cs typeface="TT Fors"/>
                <a:sym typeface="TT Fors"/>
              </a:rPr>
              <a:t>avant assemblage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4227" y="1632863"/>
            <a:ext cx="12239155" cy="7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sz="50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TESTS UNITAIRES DES COMPOSANTS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28700" y="2651578"/>
            <a:ext cx="6650413" cy="4130270"/>
            <a:chOff x="0" y="0"/>
            <a:chExt cx="6357620" cy="3948430"/>
          </a:xfrm>
        </p:grpSpPr>
        <p:sp>
          <p:nvSpPr>
            <p:cNvPr id="13" name="Freeform 13"/>
            <p:cNvSpPr/>
            <p:nvPr/>
          </p:nvSpPr>
          <p:spPr>
            <a:xfrm>
              <a:off x="0" y="535940"/>
              <a:ext cx="6357620" cy="3413760"/>
            </a:xfrm>
            <a:custGeom>
              <a:avLst/>
              <a:gdLst/>
              <a:ahLst/>
              <a:cxnLst/>
              <a:rect l="l" t="t" r="r" b="b"/>
              <a:pathLst>
                <a:path w="6357620" h="3413760">
                  <a:moveTo>
                    <a:pt x="0" y="0"/>
                  </a:moveTo>
                  <a:lnTo>
                    <a:pt x="6357620" y="0"/>
                  </a:lnTo>
                  <a:lnTo>
                    <a:pt x="635762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752" b="-675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358890" cy="3948430"/>
            </a:xfrm>
            <a:custGeom>
              <a:avLst/>
              <a:gdLst/>
              <a:ahLst/>
              <a:cxnLst/>
              <a:rect l="l" t="t" r="r" b="b"/>
              <a:pathLst>
                <a:path w="6358890" h="3948430">
                  <a:moveTo>
                    <a:pt x="635762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948430"/>
                  </a:lnTo>
                  <a:lnTo>
                    <a:pt x="6060440" y="3948430"/>
                  </a:lnTo>
                  <a:lnTo>
                    <a:pt x="6358890" y="3948430"/>
                  </a:lnTo>
                  <a:lnTo>
                    <a:pt x="6358890" y="3948430"/>
                  </a:lnTo>
                  <a:lnTo>
                    <a:pt x="6357620" y="0"/>
                  </a:lnTo>
                  <a:lnTo>
                    <a:pt x="6357620" y="0"/>
                  </a:lnTo>
                  <a:close/>
                  <a:moveTo>
                    <a:pt x="6111240" y="3897630"/>
                  </a:moveTo>
                  <a:lnTo>
                    <a:pt x="6111240" y="2863850"/>
                  </a:lnTo>
                  <a:lnTo>
                    <a:pt x="6308090" y="2863850"/>
                  </a:lnTo>
                  <a:lnTo>
                    <a:pt x="6308090" y="3897630"/>
                  </a:lnTo>
                  <a:lnTo>
                    <a:pt x="6111240" y="3897630"/>
                  </a:lnTo>
                  <a:close/>
                  <a:moveTo>
                    <a:pt x="6306820" y="2141220"/>
                  </a:moveTo>
                  <a:lnTo>
                    <a:pt x="6109970" y="2141220"/>
                  </a:lnTo>
                  <a:lnTo>
                    <a:pt x="6109970" y="535940"/>
                  </a:lnTo>
                  <a:lnTo>
                    <a:pt x="6306820" y="535940"/>
                  </a:lnTo>
                  <a:lnTo>
                    <a:pt x="6306820" y="2141220"/>
                  </a:lnTo>
                  <a:close/>
                  <a:moveTo>
                    <a:pt x="6060440" y="2141220"/>
                  </a:moveTo>
                  <a:lnTo>
                    <a:pt x="6060440" y="2865120"/>
                  </a:lnTo>
                  <a:lnTo>
                    <a:pt x="6060440" y="3898900"/>
                  </a:lnTo>
                  <a:lnTo>
                    <a:pt x="50800" y="3898900"/>
                  </a:lnTo>
                  <a:lnTo>
                    <a:pt x="50800" y="535940"/>
                  </a:lnTo>
                  <a:lnTo>
                    <a:pt x="6060440" y="535940"/>
                  </a:lnTo>
                  <a:lnTo>
                    <a:pt x="6060440" y="2141220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98120" y="100330"/>
              <a:ext cx="6109970" cy="3798570"/>
            </a:xfrm>
            <a:custGeom>
              <a:avLst/>
              <a:gdLst/>
              <a:ahLst/>
              <a:cxnLst/>
              <a:rect l="l" t="t" r="r" b="b"/>
              <a:pathLst>
                <a:path w="6109970" h="3798570">
                  <a:moveTo>
                    <a:pt x="5913120" y="2764790"/>
                  </a:moveTo>
                  <a:lnTo>
                    <a:pt x="6109970" y="2764790"/>
                  </a:lnTo>
                  <a:lnTo>
                    <a:pt x="6109970" y="3798570"/>
                  </a:lnTo>
                  <a:lnTo>
                    <a:pt x="5913120" y="3798570"/>
                  </a:lnTo>
                  <a:lnTo>
                    <a:pt x="5913120" y="2764790"/>
                  </a:lnTo>
                  <a:close/>
                  <a:moveTo>
                    <a:pt x="5913120" y="435610"/>
                  </a:moveTo>
                  <a:lnTo>
                    <a:pt x="5913120" y="2040890"/>
                  </a:lnTo>
                  <a:lnTo>
                    <a:pt x="6109970" y="2040890"/>
                  </a:lnTo>
                  <a:lnTo>
                    <a:pt x="6109970" y="435610"/>
                  </a:lnTo>
                  <a:lnTo>
                    <a:pt x="5913120" y="435610"/>
                  </a:lnTo>
                  <a:close/>
                  <a:moveTo>
                    <a:pt x="115570" y="45720"/>
                  </a:moveTo>
                  <a:cubicBezTo>
                    <a:pt x="52070" y="45720"/>
                    <a:pt x="0" y="97790"/>
                    <a:pt x="0" y="161290"/>
                  </a:cubicBezTo>
                  <a:cubicBezTo>
                    <a:pt x="0" y="224790"/>
                    <a:pt x="52070" y="276860"/>
                    <a:pt x="115570" y="276860"/>
                  </a:cubicBezTo>
                  <a:cubicBezTo>
                    <a:pt x="179070" y="276860"/>
                    <a:pt x="231140" y="224790"/>
                    <a:pt x="231140" y="161290"/>
                  </a:cubicBezTo>
                  <a:cubicBezTo>
                    <a:pt x="231140" y="97790"/>
                    <a:pt x="180340" y="45720"/>
                    <a:pt x="115570" y="45720"/>
                  </a:cubicBezTo>
                  <a:close/>
                  <a:moveTo>
                    <a:pt x="427990" y="45720"/>
                  </a:moveTo>
                  <a:cubicBezTo>
                    <a:pt x="364490" y="45720"/>
                    <a:pt x="312420" y="97790"/>
                    <a:pt x="312420" y="161290"/>
                  </a:cubicBezTo>
                  <a:cubicBezTo>
                    <a:pt x="312420" y="224790"/>
                    <a:pt x="364490" y="276860"/>
                    <a:pt x="427990" y="276860"/>
                  </a:cubicBezTo>
                  <a:cubicBezTo>
                    <a:pt x="491490" y="276860"/>
                    <a:pt x="543560" y="224790"/>
                    <a:pt x="543560" y="161290"/>
                  </a:cubicBezTo>
                  <a:cubicBezTo>
                    <a:pt x="543560" y="97790"/>
                    <a:pt x="491490" y="45720"/>
                    <a:pt x="427990" y="45720"/>
                  </a:cubicBezTo>
                  <a:close/>
                  <a:moveTo>
                    <a:pt x="739140" y="45720"/>
                  </a:moveTo>
                  <a:cubicBezTo>
                    <a:pt x="675640" y="45720"/>
                    <a:pt x="623570" y="97790"/>
                    <a:pt x="623570" y="161290"/>
                  </a:cubicBezTo>
                  <a:cubicBezTo>
                    <a:pt x="623570" y="224790"/>
                    <a:pt x="675640" y="276860"/>
                    <a:pt x="739140" y="276860"/>
                  </a:cubicBezTo>
                  <a:cubicBezTo>
                    <a:pt x="802640" y="276860"/>
                    <a:pt x="854710" y="224790"/>
                    <a:pt x="854710" y="161290"/>
                  </a:cubicBezTo>
                  <a:cubicBezTo>
                    <a:pt x="854710" y="97790"/>
                    <a:pt x="803910" y="45720"/>
                    <a:pt x="739140" y="45720"/>
                  </a:cubicBezTo>
                  <a:close/>
                  <a:moveTo>
                    <a:pt x="5966460" y="242570"/>
                  </a:moveTo>
                  <a:lnTo>
                    <a:pt x="5866130" y="242570"/>
                  </a:lnTo>
                  <a:lnTo>
                    <a:pt x="6022340" y="86360"/>
                  </a:lnTo>
                  <a:lnTo>
                    <a:pt x="6022340" y="186690"/>
                  </a:lnTo>
                  <a:lnTo>
                    <a:pt x="6073140" y="186690"/>
                  </a:lnTo>
                  <a:lnTo>
                    <a:pt x="6073140" y="0"/>
                  </a:lnTo>
                  <a:lnTo>
                    <a:pt x="5885180" y="0"/>
                  </a:lnTo>
                  <a:lnTo>
                    <a:pt x="5885180" y="50800"/>
                  </a:lnTo>
                  <a:lnTo>
                    <a:pt x="5985510" y="50800"/>
                  </a:lnTo>
                  <a:lnTo>
                    <a:pt x="5829300" y="207010"/>
                  </a:lnTo>
                  <a:lnTo>
                    <a:pt x="5829300" y="106680"/>
                  </a:lnTo>
                  <a:lnTo>
                    <a:pt x="5778500" y="106680"/>
                  </a:lnTo>
                  <a:lnTo>
                    <a:pt x="5778500" y="293370"/>
                  </a:lnTo>
                  <a:lnTo>
                    <a:pt x="5966460" y="293370"/>
                  </a:lnTo>
                  <a:lnTo>
                    <a:pt x="5966460" y="2425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407517" y="3705600"/>
            <a:ext cx="8565293" cy="4698759"/>
            <a:chOff x="0" y="0"/>
            <a:chExt cx="5908040" cy="3241040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5895340" cy="180340"/>
            </a:xfrm>
            <a:custGeom>
              <a:avLst/>
              <a:gdLst/>
              <a:ahLst/>
              <a:cxnLst/>
              <a:rect l="l" t="t" r="r" b="b"/>
              <a:pathLst>
                <a:path w="5895340" h="180340">
                  <a:moveTo>
                    <a:pt x="0" y="0"/>
                  </a:moveTo>
                  <a:lnTo>
                    <a:pt x="5895340" y="0"/>
                  </a:lnTo>
                  <a:lnTo>
                    <a:pt x="5895340" y="180340"/>
                  </a:lnTo>
                  <a:lnTo>
                    <a:pt x="0" y="180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895340" y="3041650"/>
                  </a:moveTo>
                  <a:lnTo>
                    <a:pt x="0" y="3041650"/>
                  </a:lnTo>
                  <a:lnTo>
                    <a:pt x="0" y="0"/>
                  </a:lnTo>
                  <a:lnTo>
                    <a:pt x="5895340" y="0"/>
                  </a:lnTo>
                  <a:lnTo>
                    <a:pt x="5895340" y="3041650"/>
                  </a:lnTo>
                  <a:close/>
                </a:path>
              </a:pathLst>
            </a:custGeom>
            <a:blipFill>
              <a:blip r:embed="rId4"/>
              <a:stretch>
                <a:fillRect l="-22045" t="-5461" r="-8978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908040" y="3241040"/>
                  </a:moveTo>
                  <a:lnTo>
                    <a:pt x="0" y="3241040"/>
                  </a:lnTo>
                  <a:lnTo>
                    <a:pt x="0" y="0"/>
                  </a:lnTo>
                  <a:lnTo>
                    <a:pt x="5908040" y="0"/>
                  </a:lnTo>
                  <a:lnTo>
                    <a:pt x="5908040" y="3241040"/>
                  </a:lnTo>
                  <a:close/>
                  <a:moveTo>
                    <a:pt x="12700" y="3228340"/>
                  </a:moveTo>
                  <a:lnTo>
                    <a:pt x="5895340" y="3228340"/>
                  </a:lnTo>
                  <a:lnTo>
                    <a:pt x="5895340" y="12700"/>
                  </a:lnTo>
                  <a:lnTo>
                    <a:pt x="12700" y="12700"/>
                  </a:lnTo>
                  <a:lnTo>
                    <a:pt x="12700" y="322834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186690"/>
                  </a:ln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6821479" y="4829833"/>
            <a:ext cx="9022788" cy="1342140"/>
          </a:xfrm>
          <a:custGeom>
            <a:avLst/>
            <a:gdLst/>
            <a:ahLst/>
            <a:cxnLst/>
            <a:rect l="l" t="t" r="r" b="b"/>
            <a:pathLst>
              <a:path w="9022788" h="1342140">
                <a:moveTo>
                  <a:pt x="0" y="0"/>
                </a:moveTo>
                <a:lnTo>
                  <a:pt x="9022788" y="0"/>
                </a:lnTo>
                <a:lnTo>
                  <a:pt x="9022788" y="1342140"/>
                </a:lnTo>
                <a:lnTo>
                  <a:pt x="0" y="1342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960154" y="4455563"/>
            <a:ext cx="861325" cy="1716409"/>
          </a:xfrm>
          <a:custGeom>
            <a:avLst/>
            <a:gdLst/>
            <a:ahLst/>
            <a:cxnLst/>
            <a:rect l="l" t="t" r="r" b="b"/>
            <a:pathLst>
              <a:path w="861325" h="1716409">
                <a:moveTo>
                  <a:pt x="0" y="0"/>
                </a:moveTo>
                <a:lnTo>
                  <a:pt x="861325" y="0"/>
                </a:lnTo>
                <a:lnTo>
                  <a:pt x="861325" y="1716410"/>
                </a:lnTo>
                <a:lnTo>
                  <a:pt x="0" y="1716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 rot="5400000">
            <a:off x="14797992" y="5536863"/>
            <a:ext cx="1402467" cy="2794770"/>
          </a:xfrm>
          <a:custGeom>
            <a:avLst/>
            <a:gdLst/>
            <a:ahLst/>
            <a:cxnLst/>
            <a:rect l="l" t="t" r="r" b="b"/>
            <a:pathLst>
              <a:path w="1402467" h="2794770">
                <a:moveTo>
                  <a:pt x="0" y="0"/>
                </a:moveTo>
                <a:lnTo>
                  <a:pt x="1402466" y="0"/>
                </a:lnTo>
                <a:lnTo>
                  <a:pt x="1402466" y="2794770"/>
                </a:lnTo>
                <a:lnTo>
                  <a:pt x="0" y="2794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48888" y="6943773"/>
            <a:ext cx="6010037" cy="56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3293" b="1">
                <a:solidFill>
                  <a:srgbClr val="202124"/>
                </a:solidFill>
                <a:latin typeface="TT Fors Bold"/>
                <a:ea typeface="TT Fors Bold"/>
                <a:cs typeface="TT Fors Bold"/>
                <a:sym typeface="TT Fors Bold"/>
              </a:rPr>
              <a:t>Automatisation du système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4227" y="1632863"/>
            <a:ext cx="14722634" cy="7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sz="50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RÉSULTATS DU TEST D’INTÉGRATION FINAL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31027" y="3019243"/>
            <a:ext cx="5246370" cy="5246370"/>
            <a:chOff x="0" y="0"/>
            <a:chExt cx="3241040" cy="3241040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3228340" cy="180340"/>
            </a:xfrm>
            <a:custGeom>
              <a:avLst/>
              <a:gdLst/>
              <a:ahLst/>
              <a:cxnLst/>
              <a:rect l="l" t="t" r="r" b="b"/>
              <a:pathLst>
                <a:path w="3228340" h="180340">
                  <a:moveTo>
                    <a:pt x="0" y="0"/>
                  </a:moveTo>
                  <a:lnTo>
                    <a:pt x="3228340" y="0"/>
                  </a:lnTo>
                  <a:lnTo>
                    <a:pt x="3228340" y="180340"/>
                  </a:lnTo>
                  <a:lnTo>
                    <a:pt x="0" y="180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350" y="193040"/>
              <a:ext cx="3228340" cy="3041650"/>
            </a:xfrm>
            <a:custGeom>
              <a:avLst/>
              <a:gdLst/>
              <a:ahLst/>
              <a:cxnLst/>
              <a:rect l="l" t="t" r="r" b="b"/>
              <a:pathLst>
                <a:path w="3228340" h="3041650">
                  <a:moveTo>
                    <a:pt x="3228340" y="3041650"/>
                  </a:moveTo>
                  <a:lnTo>
                    <a:pt x="0" y="3041650"/>
                  </a:lnTo>
                  <a:lnTo>
                    <a:pt x="0" y="0"/>
                  </a:lnTo>
                  <a:lnTo>
                    <a:pt x="3228340" y="0"/>
                  </a:lnTo>
                  <a:lnTo>
                    <a:pt x="3228340" y="3041650"/>
                  </a:lnTo>
                  <a:close/>
                </a:path>
              </a:pathLst>
            </a:custGeom>
            <a:blipFill>
              <a:blip r:embed="rId3"/>
              <a:stretch>
                <a:fillRect t="-23132" b="-1591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241040" cy="3241040"/>
            </a:xfrm>
            <a:custGeom>
              <a:avLst/>
              <a:gdLst/>
              <a:ahLst/>
              <a:cxnLst/>
              <a:rect l="l" t="t" r="r" b="b"/>
              <a:pathLst>
                <a:path w="3241040" h="3241040">
                  <a:moveTo>
                    <a:pt x="0" y="0"/>
                  </a:moveTo>
                  <a:lnTo>
                    <a:pt x="0" y="3241040"/>
                  </a:lnTo>
                  <a:lnTo>
                    <a:pt x="3241040" y="3241040"/>
                  </a:lnTo>
                  <a:lnTo>
                    <a:pt x="3241040" y="0"/>
                  </a:lnTo>
                  <a:lnTo>
                    <a:pt x="0" y="0"/>
                  </a:lnTo>
                  <a:close/>
                  <a:moveTo>
                    <a:pt x="3228340" y="12700"/>
                  </a:moveTo>
                  <a:lnTo>
                    <a:pt x="3228340" y="186690"/>
                  </a:lnTo>
                  <a:lnTo>
                    <a:pt x="12700" y="186690"/>
                  </a:lnTo>
                  <a:lnTo>
                    <a:pt x="12700" y="12700"/>
                  </a:lnTo>
                  <a:lnTo>
                    <a:pt x="3228340" y="12700"/>
                  </a:lnTo>
                  <a:close/>
                  <a:moveTo>
                    <a:pt x="12700" y="3228340"/>
                  </a:moveTo>
                  <a:lnTo>
                    <a:pt x="12700" y="199390"/>
                  </a:lnTo>
                  <a:lnTo>
                    <a:pt x="3228340" y="199390"/>
                  </a:lnTo>
                  <a:lnTo>
                    <a:pt x="3228340" y="3228340"/>
                  </a:lnTo>
                  <a:lnTo>
                    <a:pt x="12700" y="3228340"/>
                  </a:lnTo>
                  <a:close/>
                </a:path>
              </a:pathLst>
            </a:custGeom>
            <a:solidFill>
              <a:srgbClr val="112F8D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A5DC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591820" y="88900"/>
              <a:ext cx="2508250" cy="33020"/>
            </a:xfrm>
            <a:custGeom>
              <a:avLst/>
              <a:gdLst/>
              <a:ahLst/>
              <a:cxnLst/>
              <a:rect l="l" t="t" r="r" b="b"/>
              <a:pathLst>
                <a:path w="2508250" h="33020">
                  <a:moveTo>
                    <a:pt x="2491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2491740" y="0"/>
                  </a:lnTo>
                  <a:cubicBezTo>
                    <a:pt x="2500630" y="0"/>
                    <a:pt x="2508250" y="7620"/>
                    <a:pt x="2508250" y="16510"/>
                  </a:cubicBezTo>
                  <a:lnTo>
                    <a:pt x="2508250" y="16510"/>
                  </a:lnTo>
                  <a:cubicBezTo>
                    <a:pt x="2506980" y="25400"/>
                    <a:pt x="2500630" y="33020"/>
                    <a:pt x="2491740" y="33020"/>
                  </a:cubicBezTo>
                  <a:close/>
                </a:path>
              </a:pathLst>
            </a:custGeom>
            <a:solidFill>
              <a:srgbClr val="9DDCF9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726477" y="3250498"/>
            <a:ext cx="8447516" cy="5246370"/>
            <a:chOff x="0" y="0"/>
            <a:chExt cx="6357620" cy="3948430"/>
          </a:xfrm>
        </p:grpSpPr>
        <p:sp>
          <p:nvSpPr>
            <p:cNvPr id="19" name="Freeform 19"/>
            <p:cNvSpPr/>
            <p:nvPr/>
          </p:nvSpPr>
          <p:spPr>
            <a:xfrm rot="-5400000">
              <a:off x="1471930" y="-935990"/>
              <a:ext cx="3413760" cy="6357620"/>
            </a:xfrm>
            <a:custGeom>
              <a:avLst/>
              <a:gdLst/>
              <a:ahLst/>
              <a:cxnLst/>
              <a:rect l="l" t="t" r="r" b="b"/>
              <a:pathLst>
                <a:path w="3413760" h="6357620">
                  <a:moveTo>
                    <a:pt x="3413760" y="0"/>
                  </a:moveTo>
                  <a:lnTo>
                    <a:pt x="3413760" y="6357620"/>
                  </a:lnTo>
                  <a:lnTo>
                    <a:pt x="0" y="6357620"/>
                  </a:lnTo>
                  <a:lnTo>
                    <a:pt x="0" y="0"/>
                  </a:lnTo>
                  <a:lnTo>
                    <a:pt x="3413760" y="0"/>
                  </a:lnTo>
                  <a:close/>
                </a:path>
              </a:pathLst>
            </a:custGeom>
            <a:blipFill>
              <a:blip r:embed="rId4"/>
              <a:stretch>
                <a:fillRect l="-2708" r="-2708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6358890" cy="3948430"/>
            </a:xfrm>
            <a:custGeom>
              <a:avLst/>
              <a:gdLst/>
              <a:ahLst/>
              <a:cxnLst/>
              <a:rect l="l" t="t" r="r" b="b"/>
              <a:pathLst>
                <a:path w="6358890" h="3948430">
                  <a:moveTo>
                    <a:pt x="635762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948430"/>
                  </a:lnTo>
                  <a:lnTo>
                    <a:pt x="6060440" y="3948430"/>
                  </a:lnTo>
                  <a:lnTo>
                    <a:pt x="6358890" y="3948430"/>
                  </a:lnTo>
                  <a:lnTo>
                    <a:pt x="6358890" y="3948430"/>
                  </a:lnTo>
                  <a:lnTo>
                    <a:pt x="6357620" y="0"/>
                  </a:lnTo>
                  <a:lnTo>
                    <a:pt x="6357620" y="0"/>
                  </a:lnTo>
                  <a:close/>
                  <a:moveTo>
                    <a:pt x="6111240" y="3897630"/>
                  </a:moveTo>
                  <a:lnTo>
                    <a:pt x="6111240" y="2863850"/>
                  </a:lnTo>
                  <a:lnTo>
                    <a:pt x="6308090" y="2863850"/>
                  </a:lnTo>
                  <a:lnTo>
                    <a:pt x="6308090" y="3897630"/>
                  </a:lnTo>
                  <a:lnTo>
                    <a:pt x="6111240" y="3897630"/>
                  </a:lnTo>
                  <a:close/>
                  <a:moveTo>
                    <a:pt x="6306820" y="2141220"/>
                  </a:moveTo>
                  <a:lnTo>
                    <a:pt x="6109970" y="2141220"/>
                  </a:lnTo>
                  <a:lnTo>
                    <a:pt x="6109970" y="535940"/>
                  </a:lnTo>
                  <a:lnTo>
                    <a:pt x="6306820" y="535940"/>
                  </a:lnTo>
                  <a:lnTo>
                    <a:pt x="6306820" y="2141220"/>
                  </a:lnTo>
                  <a:close/>
                  <a:moveTo>
                    <a:pt x="6060440" y="2141220"/>
                  </a:moveTo>
                  <a:lnTo>
                    <a:pt x="6060440" y="2865120"/>
                  </a:lnTo>
                  <a:lnTo>
                    <a:pt x="6060440" y="3898900"/>
                  </a:lnTo>
                  <a:lnTo>
                    <a:pt x="50800" y="3898900"/>
                  </a:lnTo>
                  <a:lnTo>
                    <a:pt x="50800" y="535940"/>
                  </a:lnTo>
                  <a:lnTo>
                    <a:pt x="6060440" y="535940"/>
                  </a:lnTo>
                  <a:lnTo>
                    <a:pt x="6060440" y="2141220"/>
                  </a:ln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98120" y="100330"/>
              <a:ext cx="6109970" cy="3798570"/>
            </a:xfrm>
            <a:custGeom>
              <a:avLst/>
              <a:gdLst/>
              <a:ahLst/>
              <a:cxnLst/>
              <a:rect l="l" t="t" r="r" b="b"/>
              <a:pathLst>
                <a:path w="6109970" h="3798570">
                  <a:moveTo>
                    <a:pt x="5913120" y="2764790"/>
                  </a:moveTo>
                  <a:lnTo>
                    <a:pt x="6109970" y="2764790"/>
                  </a:lnTo>
                  <a:lnTo>
                    <a:pt x="6109970" y="3798570"/>
                  </a:lnTo>
                  <a:lnTo>
                    <a:pt x="5913120" y="3798570"/>
                  </a:lnTo>
                  <a:lnTo>
                    <a:pt x="5913120" y="2764790"/>
                  </a:lnTo>
                  <a:close/>
                  <a:moveTo>
                    <a:pt x="5913120" y="435610"/>
                  </a:moveTo>
                  <a:lnTo>
                    <a:pt x="5913120" y="2040890"/>
                  </a:lnTo>
                  <a:lnTo>
                    <a:pt x="6109970" y="2040890"/>
                  </a:lnTo>
                  <a:lnTo>
                    <a:pt x="6109970" y="435610"/>
                  </a:lnTo>
                  <a:lnTo>
                    <a:pt x="5913120" y="435610"/>
                  </a:lnTo>
                  <a:close/>
                  <a:moveTo>
                    <a:pt x="115570" y="45720"/>
                  </a:moveTo>
                  <a:cubicBezTo>
                    <a:pt x="52070" y="45720"/>
                    <a:pt x="0" y="97790"/>
                    <a:pt x="0" y="161290"/>
                  </a:cubicBezTo>
                  <a:cubicBezTo>
                    <a:pt x="0" y="224790"/>
                    <a:pt x="52070" y="276860"/>
                    <a:pt x="115570" y="276860"/>
                  </a:cubicBezTo>
                  <a:cubicBezTo>
                    <a:pt x="179070" y="276860"/>
                    <a:pt x="231140" y="224790"/>
                    <a:pt x="231140" y="161290"/>
                  </a:cubicBezTo>
                  <a:cubicBezTo>
                    <a:pt x="231140" y="97790"/>
                    <a:pt x="180340" y="45720"/>
                    <a:pt x="115570" y="45720"/>
                  </a:cubicBezTo>
                  <a:close/>
                  <a:moveTo>
                    <a:pt x="427990" y="45720"/>
                  </a:moveTo>
                  <a:cubicBezTo>
                    <a:pt x="364490" y="45720"/>
                    <a:pt x="312420" y="97790"/>
                    <a:pt x="312420" y="161290"/>
                  </a:cubicBezTo>
                  <a:cubicBezTo>
                    <a:pt x="312420" y="224790"/>
                    <a:pt x="364490" y="276860"/>
                    <a:pt x="427990" y="276860"/>
                  </a:cubicBezTo>
                  <a:cubicBezTo>
                    <a:pt x="491490" y="276860"/>
                    <a:pt x="543560" y="224790"/>
                    <a:pt x="543560" y="161290"/>
                  </a:cubicBezTo>
                  <a:cubicBezTo>
                    <a:pt x="543560" y="97790"/>
                    <a:pt x="491490" y="45720"/>
                    <a:pt x="427990" y="45720"/>
                  </a:cubicBezTo>
                  <a:close/>
                  <a:moveTo>
                    <a:pt x="739140" y="45720"/>
                  </a:moveTo>
                  <a:cubicBezTo>
                    <a:pt x="675640" y="45720"/>
                    <a:pt x="623570" y="97790"/>
                    <a:pt x="623570" y="161290"/>
                  </a:cubicBezTo>
                  <a:cubicBezTo>
                    <a:pt x="623570" y="224790"/>
                    <a:pt x="675640" y="276860"/>
                    <a:pt x="739140" y="276860"/>
                  </a:cubicBezTo>
                  <a:cubicBezTo>
                    <a:pt x="802640" y="276860"/>
                    <a:pt x="854710" y="224790"/>
                    <a:pt x="854710" y="161290"/>
                  </a:cubicBezTo>
                  <a:cubicBezTo>
                    <a:pt x="854710" y="97790"/>
                    <a:pt x="803910" y="45720"/>
                    <a:pt x="739140" y="45720"/>
                  </a:cubicBezTo>
                  <a:close/>
                  <a:moveTo>
                    <a:pt x="5966460" y="242570"/>
                  </a:moveTo>
                  <a:lnTo>
                    <a:pt x="5866130" y="242570"/>
                  </a:lnTo>
                  <a:lnTo>
                    <a:pt x="6022340" y="86360"/>
                  </a:lnTo>
                  <a:lnTo>
                    <a:pt x="6022340" y="186690"/>
                  </a:lnTo>
                  <a:lnTo>
                    <a:pt x="6073140" y="186690"/>
                  </a:lnTo>
                  <a:lnTo>
                    <a:pt x="6073140" y="0"/>
                  </a:lnTo>
                  <a:lnTo>
                    <a:pt x="5885180" y="0"/>
                  </a:lnTo>
                  <a:lnTo>
                    <a:pt x="5885180" y="50800"/>
                  </a:lnTo>
                  <a:lnTo>
                    <a:pt x="5985510" y="50800"/>
                  </a:lnTo>
                  <a:lnTo>
                    <a:pt x="5829300" y="207010"/>
                  </a:lnTo>
                  <a:lnTo>
                    <a:pt x="5829300" y="106680"/>
                  </a:lnTo>
                  <a:lnTo>
                    <a:pt x="5778500" y="106680"/>
                  </a:lnTo>
                  <a:lnTo>
                    <a:pt x="5778500" y="293370"/>
                  </a:lnTo>
                  <a:lnTo>
                    <a:pt x="5966460" y="293370"/>
                  </a:lnTo>
                  <a:lnTo>
                    <a:pt x="5966460" y="2425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4716322" y="754049"/>
            <a:ext cx="5389393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 &amp; RÉSULTATS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04227" y="1632863"/>
            <a:ext cx="14722634" cy="7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sz="5020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RÉSULTATS DU TEST D’INTÉGRATION FINAL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44471" y="8532313"/>
            <a:ext cx="2349817" cy="56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3293" b="1">
                <a:solidFill>
                  <a:srgbClr val="202124"/>
                </a:solidFill>
                <a:latin typeface="TT Fors Bold"/>
                <a:ea typeface="TT Fors Bold"/>
                <a:cs typeface="TT Fors Bold"/>
                <a:sym typeface="TT Fors Bold"/>
              </a:rPr>
              <a:t>TEST FINAL</a:t>
            </a:r>
          </a:p>
        </p:txBody>
      </p:sp>
      <p:sp>
        <p:nvSpPr>
          <p:cNvPr id="27" name="Freeform 27"/>
          <p:cNvSpPr/>
          <p:nvPr/>
        </p:nvSpPr>
        <p:spPr>
          <a:xfrm rot="789822">
            <a:off x="5094904" y="5465745"/>
            <a:ext cx="2920101" cy="780776"/>
          </a:xfrm>
          <a:custGeom>
            <a:avLst/>
            <a:gdLst/>
            <a:ahLst/>
            <a:cxnLst/>
            <a:rect l="l" t="t" r="r" b="b"/>
            <a:pathLst>
              <a:path w="2920101" h="780776">
                <a:moveTo>
                  <a:pt x="0" y="0"/>
                </a:moveTo>
                <a:lnTo>
                  <a:pt x="2920100" y="0"/>
                </a:lnTo>
                <a:lnTo>
                  <a:pt x="2920100" y="780776"/>
                </a:lnTo>
                <a:lnTo>
                  <a:pt x="0" y="780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69774">
            <a:off x="4338183" y="4761436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499"/>
                </a:lnTo>
                <a:lnTo>
                  <a:pt x="0" y="157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t="-29195" b="-2919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089785">
            <a:off x="13677092" y="-1500513"/>
            <a:ext cx="5574251" cy="14099397"/>
            <a:chOff x="0" y="0"/>
            <a:chExt cx="1468115" cy="37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269774">
            <a:off x="3582269" y="5072441"/>
            <a:ext cx="16230600" cy="1575499"/>
          </a:xfrm>
          <a:custGeom>
            <a:avLst/>
            <a:gdLst/>
            <a:ahLst/>
            <a:cxnLst/>
            <a:rect l="l" t="t" r="r" b="b"/>
            <a:pathLst>
              <a:path w="16230600" h="1575499">
                <a:moveTo>
                  <a:pt x="0" y="0"/>
                </a:moveTo>
                <a:lnTo>
                  <a:pt x="16230600" y="0"/>
                </a:lnTo>
                <a:lnTo>
                  <a:pt x="16230600" y="1575500"/>
                </a:lnTo>
                <a:lnTo>
                  <a:pt x="0" y="157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t="-29195" b="-29195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0089785">
            <a:off x="14856292" y="-1500513"/>
            <a:ext cx="5574251" cy="14099397"/>
            <a:chOff x="0" y="0"/>
            <a:chExt cx="1468115" cy="37134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8116" cy="3713421"/>
            </a:xfrm>
            <a:custGeom>
              <a:avLst/>
              <a:gdLst/>
              <a:ahLst/>
              <a:cxnLst/>
              <a:rect l="l" t="t" r="r" b="b"/>
              <a:pathLst>
                <a:path w="1468116" h="3713421">
                  <a:moveTo>
                    <a:pt x="0" y="0"/>
                  </a:moveTo>
                  <a:lnTo>
                    <a:pt x="1468116" y="0"/>
                  </a:lnTo>
                  <a:lnTo>
                    <a:pt x="1468116" y="3713421"/>
                  </a:lnTo>
                  <a:lnTo>
                    <a:pt x="0" y="3713421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68115" cy="3780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6902959" y="9765059"/>
            <a:ext cx="20106184" cy="624783"/>
            <a:chOff x="0" y="0"/>
            <a:chExt cx="5295456" cy="164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5456" cy="164552"/>
            </a:xfrm>
            <a:custGeom>
              <a:avLst/>
              <a:gdLst/>
              <a:ahLst/>
              <a:cxnLst/>
              <a:rect l="l" t="t" r="r" b="b"/>
              <a:pathLst>
                <a:path w="5295456" h="164552">
                  <a:moveTo>
                    <a:pt x="0" y="0"/>
                  </a:moveTo>
                  <a:lnTo>
                    <a:pt x="5295456" y="0"/>
                  </a:lnTo>
                  <a:lnTo>
                    <a:pt x="5295456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295456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648677" y="3359244"/>
            <a:ext cx="2994740" cy="2994740"/>
          </a:xfrm>
          <a:custGeom>
            <a:avLst/>
            <a:gdLst/>
            <a:ahLst/>
            <a:cxnLst/>
            <a:rect l="l" t="t" r="r" b="b"/>
            <a:pathLst>
              <a:path w="2994740" h="2994740">
                <a:moveTo>
                  <a:pt x="0" y="0"/>
                </a:moveTo>
                <a:lnTo>
                  <a:pt x="2994740" y="0"/>
                </a:lnTo>
                <a:lnTo>
                  <a:pt x="2994740" y="2994740"/>
                </a:lnTo>
                <a:lnTo>
                  <a:pt x="0" y="2994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75717" y="2687232"/>
            <a:ext cx="7874805" cy="420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Conclusion </a:t>
            </a:r>
          </a:p>
          <a:p>
            <a:pPr algn="ctr">
              <a:lnSpc>
                <a:spcPts val="10244"/>
              </a:lnSpc>
            </a:pPr>
            <a:r>
              <a:rPr lang="en-US" sz="9756">
                <a:solidFill>
                  <a:srgbClr val="202124"/>
                </a:solidFill>
                <a:latin typeface="Agrandir"/>
                <a:ea typeface="Agrandir"/>
                <a:cs typeface="Agrandir"/>
                <a:sym typeface="Agrandir"/>
              </a:rPr>
              <a:t>&amp; Perspectives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 ZAINAB FRITIS &amp; ZAINEB TRIGUI 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019039" y="2665481"/>
            <a:ext cx="13624722" cy="6377358"/>
          </a:xfrm>
          <a:custGeom>
            <a:avLst/>
            <a:gdLst/>
            <a:ahLst/>
            <a:cxnLst/>
            <a:rect l="l" t="t" r="r" b="b"/>
            <a:pathLst>
              <a:path w="13624722" h="6377358">
                <a:moveTo>
                  <a:pt x="0" y="0"/>
                </a:moveTo>
                <a:lnTo>
                  <a:pt x="13624722" y="0"/>
                </a:lnTo>
                <a:lnTo>
                  <a:pt x="13624722" y="6377358"/>
                </a:lnTo>
                <a:lnTo>
                  <a:pt x="0" y="6377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60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000268" y="3397944"/>
            <a:ext cx="1129243" cy="1129243"/>
          </a:xfrm>
          <a:custGeom>
            <a:avLst/>
            <a:gdLst/>
            <a:ahLst/>
            <a:cxnLst/>
            <a:rect l="l" t="t" r="r" b="b"/>
            <a:pathLst>
              <a:path w="1129243" h="1129243">
                <a:moveTo>
                  <a:pt x="0" y="0"/>
                </a:moveTo>
                <a:lnTo>
                  <a:pt x="1129244" y="0"/>
                </a:lnTo>
                <a:lnTo>
                  <a:pt x="1129244" y="1129243"/>
                </a:lnTo>
                <a:lnTo>
                  <a:pt x="0" y="112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676506" y="3286629"/>
            <a:ext cx="1278657" cy="1278657"/>
          </a:xfrm>
          <a:custGeom>
            <a:avLst/>
            <a:gdLst/>
            <a:ahLst/>
            <a:cxnLst/>
            <a:rect l="l" t="t" r="r" b="b"/>
            <a:pathLst>
              <a:path w="1278657" h="1278657">
                <a:moveTo>
                  <a:pt x="0" y="0"/>
                </a:moveTo>
                <a:lnTo>
                  <a:pt x="1278657" y="0"/>
                </a:lnTo>
                <a:lnTo>
                  <a:pt x="1278657" y="1278658"/>
                </a:lnTo>
                <a:lnTo>
                  <a:pt x="0" y="1278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282902" y="3215711"/>
            <a:ext cx="1420493" cy="1420493"/>
          </a:xfrm>
          <a:custGeom>
            <a:avLst/>
            <a:gdLst/>
            <a:ahLst/>
            <a:cxnLst/>
            <a:rect l="l" t="t" r="r" b="b"/>
            <a:pathLst>
              <a:path w="1420493" h="1420493">
                <a:moveTo>
                  <a:pt x="0" y="0"/>
                </a:moveTo>
                <a:lnTo>
                  <a:pt x="1420494" y="0"/>
                </a:lnTo>
                <a:lnTo>
                  <a:pt x="1420494" y="1420494"/>
                </a:lnTo>
                <a:lnTo>
                  <a:pt x="0" y="1420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084521" y="3177611"/>
            <a:ext cx="1240557" cy="1240557"/>
          </a:xfrm>
          <a:custGeom>
            <a:avLst/>
            <a:gdLst/>
            <a:ahLst/>
            <a:cxnLst/>
            <a:rect l="l" t="t" r="r" b="b"/>
            <a:pathLst>
              <a:path w="1240557" h="1240557">
                <a:moveTo>
                  <a:pt x="0" y="0"/>
                </a:moveTo>
                <a:lnTo>
                  <a:pt x="1240557" y="0"/>
                </a:lnTo>
                <a:lnTo>
                  <a:pt x="1240557" y="1240558"/>
                </a:lnTo>
                <a:lnTo>
                  <a:pt x="0" y="1240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44504" y="3244776"/>
            <a:ext cx="1173393" cy="1173393"/>
          </a:xfrm>
          <a:custGeom>
            <a:avLst/>
            <a:gdLst/>
            <a:ahLst/>
            <a:cxnLst/>
            <a:rect l="l" t="t" r="r" b="b"/>
            <a:pathLst>
              <a:path w="1173393" h="1173393">
                <a:moveTo>
                  <a:pt x="0" y="0"/>
                </a:moveTo>
                <a:lnTo>
                  <a:pt x="1173393" y="0"/>
                </a:lnTo>
                <a:lnTo>
                  <a:pt x="1173393" y="1173393"/>
                </a:lnTo>
                <a:lnTo>
                  <a:pt x="0" y="11733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030647" y="744524"/>
            <a:ext cx="4982694" cy="70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PERSPECTIVES</a:t>
            </a:r>
          </a:p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endParaRPr lang="en-US" sz="2051" b="1" spc="4">
              <a:solidFill>
                <a:srgbClr val="20212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67156" y="1672754"/>
            <a:ext cx="6974110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 dirty="0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64" y="-6741422"/>
            <a:ext cx="9189164" cy="9189164"/>
          </a:xfrm>
          <a:custGeom>
            <a:avLst/>
            <a:gdLst/>
            <a:ahLst/>
            <a:cxnLst/>
            <a:rect l="l" t="t" r="r" b="b"/>
            <a:pathLst>
              <a:path w="9189164" h="9189164">
                <a:moveTo>
                  <a:pt x="0" y="0"/>
                </a:moveTo>
                <a:lnTo>
                  <a:pt x="9189165" y="0"/>
                </a:lnTo>
                <a:lnTo>
                  <a:pt x="9189165" y="9189165"/>
                </a:lnTo>
                <a:lnTo>
                  <a:pt x="0" y="918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9081" y="524996"/>
            <a:ext cx="9469839" cy="814592"/>
            <a:chOff x="0" y="0"/>
            <a:chExt cx="2494114" cy="214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C4DDF5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2813" y="610982"/>
            <a:ext cx="6248438" cy="623571"/>
            <a:chOff x="0" y="0"/>
            <a:chExt cx="1645679" cy="164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679" cy="164233"/>
            </a:xfrm>
            <a:custGeom>
              <a:avLst/>
              <a:gdLst/>
              <a:ahLst/>
              <a:cxnLst/>
              <a:rect l="l" t="t" r="r" b="b"/>
              <a:pathLst>
                <a:path w="1645679" h="164233">
                  <a:moveTo>
                    <a:pt x="82116" y="0"/>
                  </a:moveTo>
                  <a:lnTo>
                    <a:pt x="1563563" y="0"/>
                  </a:lnTo>
                  <a:cubicBezTo>
                    <a:pt x="1585342" y="0"/>
                    <a:pt x="1606228" y="8652"/>
                    <a:pt x="1621628" y="24051"/>
                  </a:cubicBezTo>
                  <a:cubicBezTo>
                    <a:pt x="1637028" y="39451"/>
                    <a:pt x="1645679" y="60338"/>
                    <a:pt x="1645679" y="82116"/>
                  </a:cubicBezTo>
                  <a:lnTo>
                    <a:pt x="1645679" y="82116"/>
                  </a:lnTo>
                  <a:cubicBezTo>
                    <a:pt x="1645679" y="127468"/>
                    <a:pt x="1608914" y="164233"/>
                    <a:pt x="1563563" y="164233"/>
                  </a:cubicBezTo>
                  <a:lnTo>
                    <a:pt x="82116" y="164233"/>
                  </a:lnTo>
                  <a:cubicBezTo>
                    <a:pt x="60338" y="164233"/>
                    <a:pt x="39451" y="155581"/>
                    <a:pt x="24051" y="140181"/>
                  </a:cubicBezTo>
                  <a:cubicBezTo>
                    <a:pt x="8652" y="124782"/>
                    <a:pt x="0" y="103895"/>
                    <a:pt x="0" y="82116"/>
                  </a:cubicBezTo>
                  <a:lnTo>
                    <a:pt x="0" y="82116"/>
                  </a:lnTo>
                  <a:cubicBezTo>
                    <a:pt x="0" y="60338"/>
                    <a:pt x="8652" y="39451"/>
                    <a:pt x="24051" y="24051"/>
                  </a:cubicBezTo>
                  <a:cubicBezTo>
                    <a:pt x="39451" y="8652"/>
                    <a:pt x="60338" y="0"/>
                    <a:pt x="821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70A8">
                    <a:alpha val="100000"/>
                  </a:srgbClr>
                </a:gs>
                <a:gs pos="50000">
                  <a:srgbClr val="2683C7">
                    <a:alpha val="100000"/>
                  </a:srgbClr>
                </a:gs>
                <a:gs pos="100000">
                  <a:srgbClr val="419CF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679" cy="20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293266" y="2200681"/>
            <a:ext cx="7074185" cy="7325437"/>
          </a:xfrm>
          <a:custGeom>
            <a:avLst/>
            <a:gdLst/>
            <a:ahLst/>
            <a:cxnLst/>
            <a:rect l="l" t="t" r="r" b="b"/>
            <a:pathLst>
              <a:path w="7074185" h="7325437">
                <a:moveTo>
                  <a:pt x="0" y="0"/>
                </a:moveTo>
                <a:lnTo>
                  <a:pt x="7074184" y="0"/>
                </a:lnTo>
                <a:lnTo>
                  <a:pt x="7074184" y="7325437"/>
                </a:lnTo>
                <a:lnTo>
                  <a:pt x="0" y="7325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063" t="-23407" r="-65695" b="-2774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30647" y="744524"/>
            <a:ext cx="4982694" cy="70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2021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PERSPECTIVES</a:t>
            </a:r>
          </a:p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endParaRPr lang="en-US" sz="2051" b="1" spc="4">
              <a:solidFill>
                <a:srgbClr val="20212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44454" y="1881666"/>
            <a:ext cx="7339875" cy="11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 dirty="0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PERSPECTIVES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7157" y="3479310"/>
            <a:ext cx="5403028" cy="125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9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Optimisation de la consommation d'eau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3647" y="2389256"/>
            <a:ext cx="5403028" cy="125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9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Adaptation aux grandes installations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7356672"/>
            <a:ext cx="5403028" cy="61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9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Autonomie énergétique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67450" y="6263200"/>
            <a:ext cx="5403028" cy="125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9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Optimisation des cycles de nettoyage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47256" y="5820417"/>
            <a:ext cx="2120105" cy="2044141"/>
          </a:xfrm>
          <a:custGeom>
            <a:avLst/>
            <a:gdLst/>
            <a:ahLst/>
            <a:cxnLst/>
            <a:rect l="l" t="t" r="r" b="b"/>
            <a:pathLst>
              <a:path w="2120105" h="2044141">
                <a:moveTo>
                  <a:pt x="0" y="0"/>
                </a:moveTo>
                <a:lnTo>
                  <a:pt x="2120105" y="0"/>
                </a:lnTo>
                <a:lnTo>
                  <a:pt x="2120105" y="2044141"/>
                </a:lnTo>
                <a:lnTo>
                  <a:pt x="0" y="204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76630" y="5820417"/>
            <a:ext cx="2188578" cy="2167602"/>
          </a:xfrm>
          <a:custGeom>
            <a:avLst/>
            <a:gdLst/>
            <a:ahLst/>
            <a:cxnLst/>
            <a:rect l="l" t="t" r="r" b="b"/>
            <a:pathLst>
              <a:path w="2188578" h="2167602">
                <a:moveTo>
                  <a:pt x="0" y="0"/>
                </a:moveTo>
                <a:lnTo>
                  <a:pt x="2188578" y="0"/>
                </a:lnTo>
                <a:lnTo>
                  <a:pt x="2188578" y="2167602"/>
                </a:lnTo>
                <a:lnTo>
                  <a:pt x="0" y="2167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58722" y="5875832"/>
            <a:ext cx="2117865" cy="2056773"/>
          </a:xfrm>
          <a:custGeom>
            <a:avLst/>
            <a:gdLst/>
            <a:ahLst/>
            <a:cxnLst/>
            <a:rect l="l" t="t" r="r" b="b"/>
            <a:pathLst>
              <a:path w="2117865" h="2056773">
                <a:moveTo>
                  <a:pt x="0" y="0"/>
                </a:moveTo>
                <a:lnTo>
                  <a:pt x="2117865" y="0"/>
                </a:lnTo>
                <a:lnTo>
                  <a:pt x="2117865" y="2056772"/>
                </a:lnTo>
                <a:lnTo>
                  <a:pt x="0" y="2056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22656" y="2948054"/>
            <a:ext cx="7636644" cy="4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574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datasheets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256" y="4661848"/>
            <a:ext cx="2018744" cy="90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5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  <a:hlinkClick r:id="rId5" tooltip="https://unframework.github.io/dtmf-detect/"/>
              </a:rPr>
              <a:t>Exemple réel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9213" y="5086350"/>
            <a:ext cx="3236884" cy="4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5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GrabCad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8628" y="3697264"/>
            <a:ext cx="3904583" cy="4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574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Recherches externes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89684" y="3697264"/>
            <a:ext cx="7245745" cy="546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3147" lvl="1" indent="-191573" algn="l">
              <a:lnSpc>
                <a:spcPts val="2715"/>
              </a:lnSpc>
              <a:buFont typeface="Arial"/>
              <a:buChar char="•"/>
            </a:pPr>
            <a:r>
              <a:rPr lang="en-US" sz="17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LM2596</a:t>
            </a:r>
            <a:r>
              <a:rPr lang="en-US" sz="17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Buck converter step-downTI (official): </a:t>
            </a:r>
            <a:r>
              <a:rPr lang="en-US" sz="1774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6" tooltip="https://www.ti.com/lit/ds/symlink/lm2596.pdf"/>
              </a:rPr>
              <a:t>https://www.ti.com/lit/ds/symlink/lm2596.pdf</a:t>
            </a:r>
          </a:p>
          <a:p>
            <a:pPr marL="383147" lvl="1" indent="-191573" algn="l">
              <a:lnSpc>
                <a:spcPts val="2715"/>
              </a:lnSpc>
              <a:buFont typeface="Arial"/>
              <a:buChar char="•"/>
            </a:pPr>
            <a:r>
              <a:rPr lang="en-US" sz="17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JGB37-520</a:t>
            </a:r>
            <a:r>
              <a:rPr lang="en-US" sz="17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Moteur DC avec encodeur  </a:t>
            </a:r>
          </a:p>
          <a:p>
            <a:pPr algn="l">
              <a:lnSpc>
                <a:spcPts val="2715"/>
              </a:lnSpc>
            </a:pPr>
            <a:r>
              <a:rPr lang="en-US" sz="1774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7" tooltip="https://c1555f5ec9.clvaw-cdnwnd.com/34662fcf1f1e607c561442431023ac8e/200013049-b3a11b3a13/JGB37-520%20Datasheet.pdf"/>
              </a:rPr>
              <a:t>https://c1555f5ec9.clvaw-cdnwnd.com/34662fcf1f1e607c561442431023ac8e/200013049-b3a11b3a13/JGB37-520%20Datasheet.pdf</a:t>
            </a:r>
          </a:p>
          <a:p>
            <a:pPr algn="l">
              <a:lnSpc>
                <a:spcPts val="2715"/>
              </a:lnSpc>
            </a:pPr>
            <a:endParaRPr lang="en-US" sz="1774" u="sng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  <a:hlinkClick r:id="rId7" tooltip="https://c1555f5ec9.clvaw-cdnwnd.com/34662fcf1f1e607c561442431023ac8e/200013049-b3a11b3a13/JGB37-520%20Datasheet.pdf"/>
            </a:endParaRPr>
          </a:p>
          <a:p>
            <a:pPr marL="383147" lvl="1" indent="-191573" algn="l">
              <a:lnSpc>
                <a:spcPts val="2715"/>
              </a:lnSpc>
              <a:buFont typeface="Arial"/>
              <a:buChar char="•"/>
            </a:pPr>
            <a:r>
              <a:rPr lang="en-US" sz="17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DS1307 — Module RTC </a:t>
            </a:r>
            <a:r>
              <a:rPr lang="en-US" sz="17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Analog Devices (official): </a:t>
            </a:r>
            <a:r>
              <a:rPr lang="en-US" sz="1774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8" tooltip="https://www.analog.com/media/en/technical-documentation/data-sheets/ds1307.pdf"/>
              </a:rPr>
              <a:t>https://www.analog.com/media/en/technical-documentation/data-sheets/ds1307.pdf</a:t>
            </a:r>
          </a:p>
          <a:p>
            <a:pPr marL="383147" lvl="1" indent="-191573" algn="l">
              <a:lnSpc>
                <a:spcPts val="2715"/>
              </a:lnSpc>
              <a:buFont typeface="Arial"/>
              <a:buChar char="•"/>
            </a:pPr>
            <a:r>
              <a:rPr lang="en-US" sz="17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ESP32</a:t>
            </a:r>
          </a:p>
          <a:p>
            <a:pPr algn="l">
              <a:lnSpc>
                <a:spcPts val="2715"/>
              </a:lnSpc>
            </a:pPr>
            <a:r>
              <a:rPr lang="en-US" sz="17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https://www.espressif.com/sites/default/files/documentation/esp32_datasheet_en.pdf</a:t>
            </a:r>
          </a:p>
          <a:p>
            <a:pPr marL="383147" lvl="1" indent="-191573" algn="l">
              <a:lnSpc>
                <a:spcPts val="2715"/>
              </a:lnSpc>
              <a:buFont typeface="Arial"/>
              <a:buChar char="•"/>
            </a:pPr>
            <a:r>
              <a:rPr lang="en-US" sz="17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L298N </a:t>
            </a:r>
          </a:p>
          <a:p>
            <a:pPr algn="l">
              <a:lnSpc>
                <a:spcPts val="2715"/>
              </a:lnSpc>
            </a:pPr>
            <a:r>
              <a:rPr lang="en-US" sz="17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https://www.st.com/resource/en/datasheet/l298.pdf</a:t>
            </a:r>
          </a:p>
          <a:p>
            <a:pPr algn="l">
              <a:lnSpc>
                <a:spcPts val="2715"/>
              </a:lnSpc>
            </a:pPr>
            <a:endParaRPr lang="en-US" sz="1774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51643" y="4576875"/>
            <a:ext cx="2038552" cy="90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5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  <a:hlinkClick r:id="rId9" tooltip="https://www.mathworks.com/help/matlab/getting-started-with-matlab.html"/>
              </a:rPr>
              <a:t>SolidWorks Tutorial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48142" y="617586"/>
            <a:ext cx="9918232" cy="20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1" b="1">
                <a:solidFill>
                  <a:srgbClr val="2270A8"/>
                </a:solidFill>
                <a:latin typeface="Agrandir Bold"/>
                <a:ea typeface="Agrandir Bold"/>
                <a:cs typeface="Agrandir Bold"/>
                <a:sym typeface="Agrandir Bold"/>
              </a:rPr>
              <a:t>RÉFÉRENCES BIBLIOGRAPHIQUES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709322"/>
            <a:ext cx="59258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202124"/>
                </a:solidFill>
                <a:latin typeface="Poppins Bold"/>
                <a:ea typeface="Poppins Bold"/>
                <a:cs typeface="Poppins Bold"/>
                <a:sym typeface="Poppins Bold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277215"/>
            <a:ext cx="16230600" cy="981085"/>
            <a:chOff x="0" y="0"/>
            <a:chExt cx="4274726" cy="258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58393"/>
            </a:xfrm>
            <a:custGeom>
              <a:avLst/>
              <a:gdLst/>
              <a:ahLst/>
              <a:cxnLst/>
              <a:rect l="l" t="t" r="r" b="b"/>
              <a:pathLst>
                <a:path w="4274726" h="258393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245991"/>
                  </a:lnTo>
                  <a:cubicBezTo>
                    <a:pt x="4274726" y="249280"/>
                    <a:pt x="4273419" y="252434"/>
                    <a:pt x="4271094" y="254760"/>
                  </a:cubicBezTo>
                  <a:cubicBezTo>
                    <a:pt x="4268768" y="257086"/>
                    <a:pt x="4265613" y="258393"/>
                    <a:pt x="4262324" y="258393"/>
                  </a:cubicBezTo>
                  <a:lnTo>
                    <a:pt x="12402" y="258393"/>
                  </a:lnTo>
                  <a:cubicBezTo>
                    <a:pt x="9113" y="258393"/>
                    <a:pt x="5958" y="257086"/>
                    <a:pt x="3632" y="254760"/>
                  </a:cubicBezTo>
                  <a:cubicBezTo>
                    <a:pt x="1307" y="252434"/>
                    <a:pt x="0" y="249280"/>
                    <a:pt x="0" y="245991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96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210776" y="5585226"/>
            <a:ext cx="3075708" cy="776477"/>
            <a:chOff x="0" y="0"/>
            <a:chExt cx="810063" cy="2045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458033" y="4571582"/>
            <a:ext cx="581194" cy="58119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DC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5100104" y="3188832"/>
            <a:ext cx="3075708" cy="776477"/>
            <a:chOff x="0" y="0"/>
            <a:chExt cx="810063" cy="2045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16347361" y="4397760"/>
            <a:ext cx="581194" cy="58119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DC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20190" y="3430300"/>
            <a:ext cx="14026399" cy="259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10951" b="1" spc="-635">
                <a:solidFill>
                  <a:srgbClr val="2270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 pour votre attention!</a:t>
            </a:r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0" y="9662217"/>
            <a:ext cx="18288000" cy="624783"/>
            <a:chOff x="0" y="0"/>
            <a:chExt cx="4816593" cy="1645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16592" cy="164552"/>
            </a:xfrm>
            <a:custGeom>
              <a:avLst/>
              <a:gdLst/>
              <a:ahLst/>
              <a:cxnLst/>
              <a:rect l="l" t="t" r="r" b="b"/>
              <a:pathLst>
                <a:path w="4816592" h="164552">
                  <a:moveTo>
                    <a:pt x="0" y="0"/>
                  </a:moveTo>
                  <a:lnTo>
                    <a:pt x="4816592" y="0"/>
                  </a:lnTo>
                  <a:lnTo>
                    <a:pt x="4816592" y="164552"/>
                  </a:lnTo>
                  <a:lnTo>
                    <a:pt x="0" y="164552"/>
                  </a:lnTo>
                  <a:close/>
                </a:path>
              </a:pathLst>
            </a:custGeom>
            <a:solidFill>
              <a:srgbClr val="C4DDF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4816593" cy="23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1946" y="9804572"/>
            <a:ext cx="754453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ENET'COM SFAX |ZAINAB FRITIS &amp; ZAINEB TRIGUI| AVRIL 2026</a:t>
            </a:r>
          </a:p>
          <a:p>
            <a:pPr algn="just">
              <a:lnSpc>
                <a:spcPts val="2519"/>
              </a:lnSpc>
            </a:pPr>
            <a:endParaRPr lang="en-US" sz="1799">
              <a:solidFill>
                <a:srgbClr val="2021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1070</Words>
  <Application>Microsoft Office PowerPoint</Application>
  <PresentationFormat>Custom</PresentationFormat>
  <Paragraphs>273</Paragraphs>
  <Slides>29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6" baseType="lpstr">
      <vt:lpstr>DM Sans Bold</vt:lpstr>
      <vt:lpstr>Agrandir Bold</vt:lpstr>
      <vt:lpstr>DM Sans</vt:lpstr>
      <vt:lpstr>Montserrat Bold</vt:lpstr>
      <vt:lpstr>Poppins Bold</vt:lpstr>
      <vt:lpstr>Arial</vt:lpstr>
      <vt:lpstr>Times New Roman</vt:lpstr>
      <vt:lpstr>Proxima Nova</vt:lpstr>
      <vt:lpstr>TT Hoves Bold</vt:lpstr>
      <vt:lpstr>Proxima Nova Bold</vt:lpstr>
      <vt:lpstr>TT Hoves</vt:lpstr>
      <vt:lpstr>Poppins</vt:lpstr>
      <vt:lpstr>TT Fors Bold</vt:lpstr>
      <vt:lpstr>TT Fors</vt:lpstr>
      <vt:lpstr>Calibri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pfaa</dc:title>
  <cp:lastModifiedBy>zayneb trigui</cp:lastModifiedBy>
  <cp:revision>2</cp:revision>
  <dcterms:created xsi:type="dcterms:W3CDTF">2006-08-16T00:00:00Z</dcterms:created>
  <dcterms:modified xsi:type="dcterms:W3CDTF">2026-04-19T22:10:15Z</dcterms:modified>
  <dc:identifier>DAHFWgG-mf4</dc:identifier>
</cp:coreProperties>
</file>